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0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2F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CENGEOMETRY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88136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Predicting how centriole</a:t>
            </a:r>
            <a:endParaRPr lang="en-US" sz="4100" dirty="0"/>
          </a:p>
          <a:p>
            <a:pPr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responds to perturbation</a:t>
            </a:r>
            <a:endParaRPr lang="en-US" sz="4100" dirty="0"/>
          </a:p>
        </p:txBody>
      </p:sp>
      <p:sp>
        <p:nvSpPr>
          <p:cNvPr id="4" name="Text 2"/>
          <p:cNvSpPr/>
          <p:nvPr/>
        </p:nvSpPr>
        <p:spPr>
          <a:xfrm>
            <a:off x="822960" y="3886200"/>
            <a:ext cx="9966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C4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geometric and mechanical model of the centriole cross-section, built from cryo-ET measurements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57607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hypothesis-generating model — not a physics simulation. See the final slide for what it is not.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centriole is a ring of microtubule triplets held around a central cartwheel. Every part is connected to every other part, so nothing can change alone.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670048"/>
            <a:ext cx="384048" cy="384048"/>
          </a:xfrm>
          <a:prstGeom prst="ellipse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81328" y="246888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SAS-6 mutation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343400" y="246888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cartwheel symmetry from 9-fold to 8-fold. What happens to the triplets?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61188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995928"/>
            <a:ext cx="384048" cy="384048"/>
          </a:xfrm>
          <a:prstGeom prst="ellipse">
            <a:avLst/>
          </a:prstGeom>
          <a:solidFill>
            <a:srgbClr val="2FA8A8"/>
          </a:solidFill>
          <a:ln w="12700">
            <a:solidFill>
              <a:srgbClr val="2FA8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81328" y="379476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coiled-coil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343400" y="379476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pushes the ring outward. Does the structure still close, and at what cost?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493776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5321808"/>
            <a:ext cx="384048" cy="384048"/>
          </a:xfrm>
          <a:prstGeom prst="ellipse">
            <a:avLst/>
          </a:prstGeom>
          <a:solidFill>
            <a:srgbClr val="5C7A45"/>
          </a:solidFill>
          <a:ln w="12700">
            <a:solidFill>
              <a:srgbClr val="5C7A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321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81328" y="512064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C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C-tubule lost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343400" y="512064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leaves doublets instead of triplets. Is that geometrically viable?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Answering these by intuition is unreliable — the constraints are geometric and they interact.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idea: a linkage, not a drawing</a:t>
            </a:r>
            <a:endParaRPr lang="en-US" sz="3400" dirty="0"/>
          </a:p>
        </p:txBody>
      </p:sp>
      <p:pic>
        <p:nvPicPr>
          <p:cNvPr id="4" name="Image 0" descr="/Users/hatzopou/Dropbox/MyDocs/Scripts/CenGeom/presentations/figs/d_w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234440"/>
            <a:ext cx="4663440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280160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repeating unit is a set of rigid bodies joined by connections that can rotate: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13232" y="2029968"/>
            <a:ext cx="182880" cy="182880"/>
          </a:xfrm>
          <a:prstGeom prst="ellipse">
            <a:avLst/>
          </a:prstGeom>
          <a:solidFill>
            <a:srgbClr val="5B8DD9"/>
          </a:solidFill>
          <a:ln w="12700">
            <a:solidFill>
              <a:srgbClr val="5B8DD9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51560" y="19659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SAS-6 head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3429000" y="196596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sits on the hub ring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13232" y="2633472"/>
            <a:ext cx="182880" cy="182880"/>
          </a:xfrm>
          <a:prstGeom prst="ellipse">
            <a:avLst/>
          </a:prstGeom>
          <a:solidFill>
            <a:srgbClr val="5B8DD9"/>
          </a:solidFill>
          <a:ln w="12700">
            <a:solidFill>
              <a:srgbClr val="5B8DD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51560" y="256946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Coiled-coil spoke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429000" y="256946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radial at rest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13232" y="3236976"/>
            <a:ext cx="182880" cy="182880"/>
          </a:xfrm>
          <a:prstGeom prst="ellipse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51560" y="317296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Pinhead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429000" y="317296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grips A-tubule protofilaments 3 &amp; 4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13232" y="3840480"/>
            <a:ext cx="182880" cy="182880"/>
          </a:xfrm>
          <a:prstGeom prst="ellipse">
            <a:avLst/>
          </a:prstGeom>
          <a:solidFill>
            <a:srgbClr val="8A8F98"/>
          </a:solidFill>
          <a:ln w="12700">
            <a:solidFill>
              <a:srgbClr val="8A8F9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51560" y="377647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triplet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429000" y="377647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+ B + C, one rigid body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13232" y="4443984"/>
            <a:ext cx="182880" cy="182880"/>
          </a:xfrm>
          <a:prstGeom prst="ellipse">
            <a:avLst/>
          </a:prstGeom>
          <a:solidFill>
            <a:srgbClr val="5C7A45"/>
          </a:solidFill>
          <a:ln w="12700">
            <a:solidFill>
              <a:srgbClr val="5C7A4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51560" y="437997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Triplet base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3429000" y="437997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branches to the linker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713232" y="5047488"/>
            <a:ext cx="182880" cy="182880"/>
          </a:xfrm>
          <a:prstGeom prst="ellipse">
            <a:avLst/>
          </a:prstGeom>
          <a:solidFill>
            <a:srgbClr val="2FA8A8"/>
          </a:solidFill>
          <a:ln w="12700">
            <a:solidFill>
              <a:srgbClr val="2FA8A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51560" y="498348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A-C linker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3429000" y="498348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the next triplet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40080" y="5715000"/>
            <a:ext cx="5989320" cy="777240"/>
          </a:xfrm>
          <a:prstGeom prst="roundRect">
            <a:avLst>
              <a:gd name="adj" fmla="val 9412"/>
            </a:avLst>
          </a:prstGeom>
          <a:solidFill>
            <a:srgbClr val="EDE7F6"/>
          </a:solidFill>
          <a:ln w="12700">
            <a:solidFill>
              <a:srgbClr val="EDE7F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68680" y="5833872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the units must close into a ring, changing one part forces the others to adapt. The model finds the least-strained arrangement that still fits together.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dimension is measured, not estimated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298448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off a cryo-ET-derived schematic by a re-runnable script, calibrated against its 500 Å scale bar (4.132 Å per unit).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8813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423160"/>
                <a:gridCol w="3017520"/>
                <a:gridCol w="2423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3F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value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3F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3F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value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3FA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SAS-6 dimer (total)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 nm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Tubule radius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 nm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· head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4.98 nm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A→B spacing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 nm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· coiled coil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 nm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B→C spacing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 nm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Pinhead span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21.3 nm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Triplet axis vs spoke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−56.9°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Triplet base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34.7 nm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Protofilament pitch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A-C linker arms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 / 11.6 nm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Linker vertex angle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138.7°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07492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68680" y="5230368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exception, stated plainly: the SAS-6 head-head spacing cannot be read off the drawing (its centre is ambiguous), so it is fitted as the value that lets the measured unit close with least strain.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FROM CALIBRATION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things the measurement revealed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881360" cy="1965960"/>
          </a:xfrm>
          <a:prstGeom prst="roundRect">
            <a:avLst>
              <a:gd name="adj" fmla="val 3721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1783080"/>
            <a:ext cx="457200" cy="457200"/>
          </a:xfrm>
          <a:prstGeom prst="ellipse">
            <a:avLst/>
          </a:prstGeom>
          <a:solidFill>
            <a:srgbClr val="2FA8A8"/>
          </a:solidFill>
          <a:ln w="12700">
            <a:solidFill>
              <a:srgbClr val="2FA8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645920" y="1755648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A8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and C tubules share the A-tubule's lattice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45920" y="2304288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carry 9 protofilaments each — but at the same ~27.7° pitch as A's 13, i.e. 360/13, not 360/9. All three tubules sit on one lattice; B and C simply stop short, leaving ~138° open where each fuses inward.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749040"/>
            <a:ext cx="10881360" cy="1965960"/>
          </a:xfrm>
          <a:prstGeom prst="roundRect">
            <a:avLst>
              <a:gd name="adj" fmla="val 3721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4069080"/>
            <a:ext cx="457200" cy="457200"/>
          </a:xfrm>
          <a:prstGeom prst="ellipse">
            <a:avLst/>
          </a:prstGeom>
          <a:solidFill>
            <a:srgbClr val="5C7A45"/>
          </a:solidFill>
          <a:ln w="12700">
            <a:solidFill>
              <a:srgbClr val="5C7A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45920" y="4041648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7A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A-C linker is bent, not straight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45920" y="4590288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arms of 14.6 nm (to the C-tubule) and 11.6 nm (to the neighbouring A-tubule), meeting at 138.7°. The triplet base attaches at that vertex. A straight linker would not reproduce the geometry.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was assumed — both fell out of measuring the schematic properly.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DECIDES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mechanical rules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257800" cy="2011680"/>
          </a:xfrm>
          <a:prstGeom prst="roundRect">
            <a:avLst>
              <a:gd name="adj" fmla="val 3636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1755648"/>
            <a:ext cx="420624" cy="420624"/>
          </a:xfrm>
          <a:prstGeom prst="ellipse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508760" y="17373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3F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stretches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2304288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Segments have fixed length. Under compression they may buckle — bow so the ends come closer — but never extend.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1463040"/>
            <a:ext cx="5257800" cy="2011680"/>
          </a:xfrm>
          <a:prstGeom prst="roundRect">
            <a:avLst>
              <a:gd name="adj" fmla="val 3636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56248" y="1755648"/>
            <a:ext cx="420624" cy="420624"/>
          </a:xfrm>
          <a:prstGeom prst="ellipse">
            <a:avLst/>
          </a:prstGeom>
          <a:solidFill>
            <a:srgbClr val="2FA8A8"/>
          </a:solidFill>
          <a:ln w="12700">
            <a:solidFill>
              <a:srgbClr val="2FA8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56248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132320" y="17373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A8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Bonds have strengths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583680" y="2304288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connection is a spring stiffened by its bond strength, so weak bonds yield first and load distribution is a result, not an assumption.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749040"/>
            <a:ext cx="5257800" cy="2011680"/>
          </a:xfrm>
          <a:prstGeom prst="roundRect">
            <a:avLst>
              <a:gd name="adj" fmla="val 3636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2688" y="4041648"/>
            <a:ext cx="420624" cy="420624"/>
          </a:xfrm>
          <a:prstGeom prst="ellipse">
            <a:avLst/>
          </a:prstGeom>
          <a:solidFill>
            <a:srgbClr val="5C7A45"/>
          </a:solidFill>
          <a:ln w="12700">
            <a:solidFill>
              <a:srgbClr val="5C7A4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4041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508760" y="40233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C7A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Joints have individual limits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60120" y="4590288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rotation means different things at a 45 nm spoke and a 13 nm linker arm. Each is graded against its own thresholds.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63640" y="3749040"/>
            <a:ext cx="5257800" cy="2011680"/>
          </a:xfrm>
          <a:prstGeom prst="roundRect">
            <a:avLst>
              <a:gd name="adj" fmla="val 3636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56248" y="4041648"/>
            <a:ext cx="420624" cy="420624"/>
          </a:xfrm>
          <a:prstGeom prst="ellipse">
            <a:avLst/>
          </a:prstGeom>
          <a:solidFill>
            <a:srgbClr val="5B8DD9"/>
          </a:solidFill>
          <a:ln w="12700">
            <a:solidFill>
              <a:srgbClr val="5B8D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56248" y="4041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32320" y="40233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8D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Parts cannot overlap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583680" y="4590288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Microtubules repel on contact; the clearance of every strand against every tubule is measured.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Grades: OK (comfortable)  ·  HARD (strained but achievable)  ·  FORBIDDEN (very costly)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was never told 9-fold is special</a:t>
            </a:r>
            <a:endParaRPr lang="en-US" sz="3400" dirty="0"/>
          </a:p>
        </p:txBody>
      </p:sp>
      <p:pic>
        <p:nvPicPr>
          <p:cNvPr id="4" name="Image 0" descr="/Users/hatzopou/Dropbox/MyDocs/Scripts/CenGeom/presentations/figs/d_valid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5943600" cy="3749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0" y="132588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Sweeping each parameter independently, the measured wild-type value sits at a strain minimum every time: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2194560"/>
          <a:ext cx="47091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234440"/>
                <a:gridCol w="1143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3F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3F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3FA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Symmetry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SAS-6 coiled coil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 nm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 nm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Triplet base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34.7 nm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34.7 nm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A-tubule protofilaments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Tubules per blade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6858000" y="4709160"/>
            <a:ext cx="4709160" cy="1371600"/>
          </a:xfrm>
          <a:prstGeom prst="roundRect">
            <a:avLst>
              <a:gd name="adj" fmla="val 5333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059168" y="4864608"/>
            <a:ext cx="4343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Wild-type diameter comes out at 255 nm, against roughly 250 nm measured in real centrioles — and diameter was never fitted.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640080" y="52578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 rises steeply either side of 9: 11.1° at 8-fold, 9.1° at 10-fold, against 1.3° at 9.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tells you</a:t>
            </a:r>
            <a:endParaRPr lang="en-US" sz="3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8813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229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Readout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3F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Biological meaning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3FA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rotation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far each connection had to turn, graded OK / HARD / FORBIDDEN against its own limits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 load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connection carries most strain — i.e. which would rupture first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Buckling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segments were forced to bow because space became tight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Clashes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Microtubules overlapping in space. Anything above zero is physically impossible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Clearance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close the linker, base or spoke passes to a microtubule; negative means passing through 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Diameter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Outer, A-tubule ring, and lumen, in nm — directly comparable to EM measurements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Unattached triplets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Triplets the cartwheel could not reach — expected when the two symmetries differ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grades comparatively — mutant against wild type — rather than as absolute verdicts.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 FOR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worked prediction: symmetry mismatch</a:t>
            </a:r>
            <a:endParaRPr lang="en-US" sz="3400" dirty="0"/>
          </a:p>
        </p:txBody>
      </p:sp>
      <p:pic>
        <p:nvPicPr>
          <p:cNvPr id="4" name="Image 0" descr="/Users/hatzopou/Dropbox/MyDocs/Scripts/CenGeom/presentations/figs/d_mismat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11155680" cy="3931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534924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EDE7F6"/>
          </a:solidFill>
          <a:ln w="12700">
            <a:solidFill>
              <a:srgbClr val="EDE7F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68680" y="54864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SAS-6 makes an 8-fold cartwheel but nine triplets are still built, the model predicts the triplet ring keeps wild-type spacing and diameter (255 nm, unchanged) while the cartwheel absorbs the entire mismatch — spokes strained to HARD, one triplet left with no pinhead at all. A fully 8-fold centriole instead shrinks to 233 nm.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PRACTICALITIES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it takes no coding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1755648"/>
            <a:ext cx="420624" cy="420624"/>
          </a:xfrm>
          <a:prstGeom prst="ellipse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536192" y="160934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Double-click the launcher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846320" y="1609344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everything up the first time and opens in your browser.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633472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926080"/>
            <a:ext cx="420624" cy="420624"/>
          </a:xfrm>
          <a:prstGeom prst="ellipse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2926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36192" y="277977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 tab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46320" y="2779776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any parameter; the geometry redraws with every metric.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803904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2688" y="4096512"/>
            <a:ext cx="420624" cy="420624"/>
          </a:xfrm>
          <a:prstGeom prst="ellipse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40965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536192" y="395020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scan tab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846320" y="3950208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 one parameter; all metrics plotted, with cross-sections and a wild-type reference.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4974336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4F1F9"/>
          </a:solidFill>
          <a:ln w="12700">
            <a:solidFill>
              <a:srgbClr val="F4F1F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2688" y="5266944"/>
            <a:ext cx="420624" cy="420624"/>
          </a:xfrm>
          <a:prstGeom prst="ellipse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2688" y="52669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536192" y="51206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2-parameter scan tab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4846320" y="51206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 any two — e.g. coiled-coil length against symmetry — as heatmaps or curves.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Sliders for symmetry, typed boxes for every distance, and CSV download on every scan.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10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model is not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1691640"/>
            <a:ext cx="10515600" cy="960120"/>
          </a:xfrm>
          <a:prstGeom prst="roundRect">
            <a:avLst>
              <a:gd name="adj" fmla="val 5714"/>
            </a:avLst>
          </a:prstGeom>
          <a:solidFill>
            <a:srgbClr val="2A1B4D"/>
          </a:solidFill>
          <a:ln w="12700">
            <a:solidFill>
              <a:srgbClr val="2A1B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783080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not a physics simulation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349240" y="1810512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geometric and mechanical model for generating hypotheses. Bond strengths are a rank ordering, not measured energies.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2807208"/>
            <a:ext cx="10515600" cy="960120"/>
          </a:xfrm>
          <a:prstGeom prst="roundRect">
            <a:avLst>
              <a:gd name="adj" fmla="val 5714"/>
            </a:avLst>
          </a:prstGeom>
          <a:solidFill>
            <a:srgbClr val="2A1B4D"/>
          </a:solidFill>
          <a:ln w="12700">
            <a:solidFill>
              <a:srgbClr val="2A1B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898648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joint thresholds are reasoned, not measured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49240" y="292608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sub-tomogram angular variance was available to calibrate OK / HARD / FORBIDDEN. Their rank ordering is defensible; the absolute numbers are not.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3922776"/>
            <a:ext cx="10515600" cy="960120"/>
          </a:xfrm>
          <a:prstGeom prst="roundRect">
            <a:avLst>
              <a:gd name="adj" fmla="val 5714"/>
            </a:avLst>
          </a:prstGeom>
          <a:solidFill>
            <a:srgbClr val="2A1B4D"/>
          </a:solidFill>
          <a:ln w="12700">
            <a:solidFill>
              <a:srgbClr val="2A1B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4014216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single 2D cross-section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349240" y="4041648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centriole twists along its length. Anything longitudinal is outside its scope.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2960" y="5038344"/>
            <a:ext cx="10515600" cy="960120"/>
          </a:xfrm>
          <a:prstGeom prst="roundRect">
            <a:avLst>
              <a:gd name="adj" fmla="val 5714"/>
            </a:avLst>
          </a:prstGeom>
          <a:solidFill>
            <a:srgbClr val="2A1B4D"/>
          </a:solidFill>
          <a:ln w="12700">
            <a:solidFill>
              <a:srgbClr val="2A1B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5129784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rests on one schematic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349240" y="5157216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Protofilament positions carry about 2° (~0.4 nm) of reading noise, which sets the precision floor.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62636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F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within those limits, it answers a question intuition cannot: given everything is connected, what has to give?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CenGeometry</dc:creator>
  <cp:lastModifiedBy>CenGeometry</cp:lastModifiedBy>
  <cp:revision>1</cp:revision>
  <dcterms:created xsi:type="dcterms:W3CDTF">2026-07-30T07:04:11Z</dcterms:created>
  <dcterms:modified xsi:type="dcterms:W3CDTF">2026-07-30T07:04:11Z</dcterms:modified>
</cp:coreProperties>
</file>