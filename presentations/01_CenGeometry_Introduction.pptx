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10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37160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2FA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CENGEOMETRY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822960" y="1783080"/>
            <a:ext cx="10881360" cy="1965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Predicting how centriole</a:t>
            </a:r>
            <a:endParaRPr lang="en-US" sz="4100" dirty="0"/>
          </a:p>
          <a:p>
            <a:pPr indent="0" marL="0">
              <a:buNone/>
            </a:pPr>
            <a:r>
              <a:rPr lang="en-US" sz="4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architecture responds to perturbation</a:t>
            </a:r>
            <a:endParaRPr lang="en-US" sz="4100" dirty="0"/>
          </a:p>
        </p:txBody>
      </p:sp>
      <p:sp>
        <p:nvSpPr>
          <p:cNvPr id="4" name="Text 2"/>
          <p:cNvSpPr/>
          <p:nvPr/>
        </p:nvSpPr>
        <p:spPr>
          <a:xfrm>
            <a:off x="822960" y="3886200"/>
            <a:ext cx="9966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C4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geometric and mechanical model of the centriole cross-section, built from cryo-ET measurements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57607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A9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hypothesis-generating model — not a physics simulation. See the final slide for what it is not.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10896"/>
            <a:ext cx="10881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3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566928"/>
            <a:ext cx="10881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question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centriole is a ring of microtubule triplets held around a central cartwheel. Every part is connected to every other part, so nothing can change alone.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640080" y="2286000"/>
            <a:ext cx="10881360" cy="1143000"/>
          </a:xfrm>
          <a:prstGeom prst="roundRect">
            <a:avLst>
              <a:gd name="adj" fmla="val 6400"/>
            </a:avLst>
          </a:prstGeom>
          <a:solidFill>
            <a:srgbClr val="F4F1F9"/>
          </a:solidFill>
          <a:ln w="12700">
            <a:solidFill>
              <a:srgbClr val="F4F1F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2670048"/>
            <a:ext cx="384048" cy="384048"/>
          </a:xfrm>
          <a:prstGeom prst="ellipse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26700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481328" y="2468880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B3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SAS-6 mutation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4343400" y="2468880"/>
            <a:ext cx="6949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changes cartwheel symmetry from 9-fold to 8-fold. What happens to the triplets?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40080" y="3611880"/>
            <a:ext cx="10881360" cy="1143000"/>
          </a:xfrm>
          <a:prstGeom prst="roundRect">
            <a:avLst>
              <a:gd name="adj" fmla="val 6400"/>
            </a:avLst>
          </a:prstGeom>
          <a:solidFill>
            <a:srgbClr val="F4F1F9"/>
          </a:solidFill>
          <a:ln w="12700">
            <a:solidFill>
              <a:srgbClr val="F4F1F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3995928"/>
            <a:ext cx="384048" cy="384048"/>
          </a:xfrm>
          <a:prstGeom prst="ellipse">
            <a:avLst/>
          </a:prstGeom>
          <a:solidFill>
            <a:srgbClr val="2FA8A8"/>
          </a:solidFill>
          <a:ln w="12700">
            <a:solidFill>
              <a:srgbClr val="2FA8A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3995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481328" y="3794760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FA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Longer coiled-coil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4343400" y="3794760"/>
            <a:ext cx="6949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pushes the ring outward. Does the structure still close, and at what cost?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40080" y="4937760"/>
            <a:ext cx="10881360" cy="1143000"/>
          </a:xfrm>
          <a:prstGeom prst="roundRect">
            <a:avLst>
              <a:gd name="adj" fmla="val 6400"/>
            </a:avLst>
          </a:prstGeom>
          <a:solidFill>
            <a:srgbClr val="F4F1F9"/>
          </a:solidFill>
          <a:ln w="12700">
            <a:solidFill>
              <a:srgbClr val="F4F1F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14400" y="5321808"/>
            <a:ext cx="384048" cy="384048"/>
          </a:xfrm>
          <a:prstGeom prst="ellipse">
            <a:avLst/>
          </a:prstGeom>
          <a:solidFill>
            <a:srgbClr val="5C7A45"/>
          </a:solidFill>
          <a:ln w="12700">
            <a:solidFill>
              <a:srgbClr val="5C7A4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53218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481328" y="5120640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C7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C-tubule lost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4343400" y="5120640"/>
            <a:ext cx="6949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leaves doublets instead of triplets. Is that geometrically viable?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40080" y="598932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Answering these by intuition is unreliable — the constraints are geometric and they interact.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10896"/>
            <a:ext cx="10881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3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566928"/>
            <a:ext cx="10881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idea: a linkage, not a drawing</a:t>
            </a:r>
            <a:endParaRPr lang="en-US" sz="3400" dirty="0"/>
          </a:p>
        </p:txBody>
      </p:sp>
      <p:pic>
        <p:nvPicPr>
          <p:cNvPr id="4" name="Image 0" descr="/Users/hatzopou/Dropbox/MyDocs/Scripts/CenGeom/presentations/figs/d_w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0" y="1234440"/>
            <a:ext cx="4663440" cy="46634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1280160"/>
            <a:ext cx="5943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repeating unit is a set of rigid bodies joined by connections that can rotate: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713232" y="2029968"/>
            <a:ext cx="182880" cy="182880"/>
          </a:xfrm>
          <a:prstGeom prst="ellipse">
            <a:avLst/>
          </a:prstGeom>
          <a:solidFill>
            <a:srgbClr val="5B8DD9"/>
          </a:solidFill>
          <a:ln w="12700">
            <a:solidFill>
              <a:srgbClr val="5B8DD9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051560" y="1965960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SAS-6 head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3429000" y="1965960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sits on the hub ring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713232" y="2633472"/>
            <a:ext cx="182880" cy="182880"/>
          </a:xfrm>
          <a:prstGeom prst="ellipse">
            <a:avLst/>
          </a:prstGeom>
          <a:solidFill>
            <a:srgbClr val="5B8DD9"/>
          </a:solidFill>
          <a:ln w="12700">
            <a:solidFill>
              <a:srgbClr val="5B8DD9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051560" y="2569464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Coiled-coil spoke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3429000" y="2569464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radial at rest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713232" y="3236976"/>
            <a:ext cx="182880" cy="182880"/>
          </a:xfrm>
          <a:prstGeom prst="ellipse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051560" y="3172968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Pinhead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3429000" y="3172968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grips A-tubule protofilaments 3 &amp; 4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713232" y="3840480"/>
            <a:ext cx="182880" cy="182880"/>
          </a:xfrm>
          <a:prstGeom prst="ellipse">
            <a:avLst/>
          </a:prstGeom>
          <a:solidFill>
            <a:srgbClr val="8A8F98"/>
          </a:solidFill>
          <a:ln w="12700">
            <a:solidFill>
              <a:srgbClr val="8A8F98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051560" y="3776472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 triplet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3429000" y="3776472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+ B + C, one rigid body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713232" y="4443984"/>
            <a:ext cx="182880" cy="182880"/>
          </a:xfrm>
          <a:prstGeom prst="ellipse">
            <a:avLst/>
          </a:prstGeom>
          <a:solidFill>
            <a:srgbClr val="5C7A45"/>
          </a:solidFill>
          <a:ln w="12700">
            <a:solidFill>
              <a:srgbClr val="5C7A45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051560" y="4379976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Triplet base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3429000" y="4379976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branches to the linker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713232" y="5047488"/>
            <a:ext cx="182880" cy="182880"/>
          </a:xfrm>
          <a:prstGeom prst="ellipse">
            <a:avLst/>
          </a:prstGeom>
          <a:solidFill>
            <a:srgbClr val="2FA8A8"/>
          </a:solidFill>
          <a:ln w="12700">
            <a:solidFill>
              <a:srgbClr val="2FA8A8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51560" y="4983480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A-C linker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3429000" y="4983480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reaches the next triplet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640080" y="5715000"/>
            <a:ext cx="5989320" cy="777240"/>
          </a:xfrm>
          <a:prstGeom prst="roundRect">
            <a:avLst>
              <a:gd name="adj" fmla="val 9412"/>
            </a:avLst>
          </a:prstGeom>
          <a:solidFill>
            <a:srgbClr val="EDE7F6"/>
          </a:solidFill>
          <a:ln w="12700">
            <a:solidFill>
              <a:srgbClr val="EDE7F6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868680" y="5833872"/>
            <a:ext cx="5577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A2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Because the units must close into a ring, changing one part forces the others to adapt. The model finds the least-strained arrangement that still fits together.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10896"/>
            <a:ext cx="10881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3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PROVENANCE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566928"/>
            <a:ext cx="10881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dimension is measured, not estimated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1298448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off a cryo-ET-derived schematic by a re-runnable script, calibrated against its 500 Å scale bar (4.132 Å per unit).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28800"/>
          <a:ext cx="1088136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2423160"/>
                <a:gridCol w="3017520"/>
                <a:gridCol w="24231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Element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3FA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Measured value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3FA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Element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3FA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Measured value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3FA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SAS-6 dimer (total)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50.0 nm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Tubule radius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11.9 nm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· head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4.98 nm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A→B spacing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18.8 nm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· coiled coil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45.0 nm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B→C spacing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19.6 nm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Pinhead span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21.3 nm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Triplet axis vs spoke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−56.9°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Triplet base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34.7 nm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Protofilament pitch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27.7°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A-C linker arms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14.6 / 11.6 nm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Linker vertex angle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138.7°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" y="5074920"/>
            <a:ext cx="10881360" cy="1005840"/>
          </a:xfrm>
          <a:prstGeom prst="roundRect">
            <a:avLst>
              <a:gd name="adj" fmla="val 7273"/>
            </a:avLst>
          </a:prstGeom>
          <a:solidFill>
            <a:srgbClr val="FFF4E5"/>
          </a:solidFill>
          <a:ln w="12700">
            <a:solidFill>
              <a:srgbClr val="FFF4E5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68680" y="5230368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exception, stated plainly: the SAS-6 head-head spacing cannot be read off the drawing (its centre is ambiguous), so it is fitted as the value that lets the measured unit close with least strain.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10896"/>
            <a:ext cx="10881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3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 FROM CALIBRATION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566928"/>
            <a:ext cx="10881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things the measurement revealed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10881360" cy="1965960"/>
          </a:xfrm>
          <a:prstGeom prst="roundRect">
            <a:avLst>
              <a:gd name="adj" fmla="val 3721"/>
            </a:avLst>
          </a:prstGeom>
          <a:solidFill>
            <a:srgbClr val="F4F1F9"/>
          </a:solidFill>
          <a:ln w="12700">
            <a:solidFill>
              <a:srgbClr val="F4F1F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60120" y="1783080"/>
            <a:ext cx="457200" cy="457200"/>
          </a:xfrm>
          <a:prstGeom prst="ellipse">
            <a:avLst/>
          </a:prstGeom>
          <a:solidFill>
            <a:srgbClr val="2FA8A8"/>
          </a:solidFill>
          <a:ln w="12700">
            <a:solidFill>
              <a:srgbClr val="2FA8A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645920" y="1755648"/>
            <a:ext cx="9509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FA8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 and C tubules share the A-tubule's lattice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645920" y="2304288"/>
            <a:ext cx="9509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carry 9 protofilaments each — but at the same ~27.7° pitch as A's 13, i.e. 360/13, not 360/9. All three tubules sit on one lattice; B and C simply stop short, leaving ~138° open where each fuses inward.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" y="3749040"/>
            <a:ext cx="10881360" cy="1965960"/>
          </a:xfrm>
          <a:prstGeom prst="roundRect">
            <a:avLst>
              <a:gd name="adj" fmla="val 3721"/>
            </a:avLst>
          </a:prstGeom>
          <a:solidFill>
            <a:srgbClr val="F4F1F9"/>
          </a:solidFill>
          <a:ln w="12700">
            <a:solidFill>
              <a:srgbClr val="F4F1F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0120" y="4069080"/>
            <a:ext cx="457200" cy="457200"/>
          </a:xfrm>
          <a:prstGeom prst="ellipse">
            <a:avLst/>
          </a:prstGeom>
          <a:solidFill>
            <a:srgbClr val="5C7A45"/>
          </a:solidFill>
          <a:ln w="12700">
            <a:solidFill>
              <a:srgbClr val="5C7A4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0120" y="4069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645920" y="4041648"/>
            <a:ext cx="9509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C7A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A-C linker is bent, not straight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645920" y="4590288"/>
            <a:ext cx="9509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arms of 14.6 nm (to the C-tubule) and 11.6 nm (to the neighbouring A-tubule), meeting at 138.7°. The triplet base attaches at that vertex. A straight linker would not reproduce the geometry.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40080" y="612648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Neither was assumed — both fell out of measuring the schematic properly.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10896"/>
            <a:ext cx="10881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3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DECIDES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566928"/>
            <a:ext cx="10881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mechanical rules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257800" cy="2011680"/>
          </a:xfrm>
          <a:prstGeom prst="roundRect">
            <a:avLst>
              <a:gd name="adj" fmla="val 3636"/>
            </a:avLst>
          </a:prstGeom>
          <a:solidFill>
            <a:srgbClr val="F4F1F9"/>
          </a:solidFill>
          <a:ln w="12700">
            <a:solidFill>
              <a:srgbClr val="F4F1F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32688" y="1755648"/>
            <a:ext cx="420624" cy="420624"/>
          </a:xfrm>
          <a:prstGeom prst="ellipse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32688" y="17556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508760" y="173736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B3F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Nothing stretches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60120" y="2304288"/>
            <a:ext cx="46634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Segments have fixed length. Under compression they may buckle — bow so the ends come closer — but never extend.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63640" y="1463040"/>
            <a:ext cx="5257800" cy="2011680"/>
          </a:xfrm>
          <a:prstGeom prst="roundRect">
            <a:avLst>
              <a:gd name="adj" fmla="val 3636"/>
            </a:avLst>
          </a:prstGeom>
          <a:solidFill>
            <a:srgbClr val="F4F1F9"/>
          </a:solidFill>
          <a:ln w="12700">
            <a:solidFill>
              <a:srgbClr val="F4F1F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56248" y="1755648"/>
            <a:ext cx="420624" cy="420624"/>
          </a:xfrm>
          <a:prstGeom prst="ellipse">
            <a:avLst/>
          </a:prstGeom>
          <a:solidFill>
            <a:srgbClr val="2FA8A8"/>
          </a:solidFill>
          <a:ln w="12700">
            <a:solidFill>
              <a:srgbClr val="2FA8A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56248" y="17556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132320" y="173736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FA8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Bonds have strengths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583680" y="2304288"/>
            <a:ext cx="46634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connection is a spring stiffened by its bond strength, so weak bonds yield first and load distribution is a result, not an assumption.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40080" y="3749040"/>
            <a:ext cx="5257800" cy="2011680"/>
          </a:xfrm>
          <a:prstGeom prst="roundRect">
            <a:avLst>
              <a:gd name="adj" fmla="val 3636"/>
            </a:avLst>
          </a:prstGeom>
          <a:solidFill>
            <a:srgbClr val="F4F1F9"/>
          </a:solidFill>
          <a:ln w="12700">
            <a:solidFill>
              <a:srgbClr val="F4F1F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32688" y="4041648"/>
            <a:ext cx="420624" cy="420624"/>
          </a:xfrm>
          <a:prstGeom prst="ellipse">
            <a:avLst/>
          </a:prstGeom>
          <a:solidFill>
            <a:srgbClr val="5C7A45"/>
          </a:solidFill>
          <a:ln w="12700">
            <a:solidFill>
              <a:srgbClr val="5C7A4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32688" y="40416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508760" y="402336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C7A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Joints have individual limits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960120" y="4590288"/>
            <a:ext cx="46634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rotation means different things at a 45 nm spoke and a 13 nm linker arm. Each is graded against its own thresholds.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263640" y="3749040"/>
            <a:ext cx="5257800" cy="2011680"/>
          </a:xfrm>
          <a:prstGeom prst="roundRect">
            <a:avLst>
              <a:gd name="adj" fmla="val 3636"/>
            </a:avLst>
          </a:prstGeom>
          <a:solidFill>
            <a:srgbClr val="F4F1F9"/>
          </a:solidFill>
          <a:ln w="12700">
            <a:solidFill>
              <a:srgbClr val="F4F1F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56248" y="4041648"/>
            <a:ext cx="420624" cy="420624"/>
          </a:xfrm>
          <a:prstGeom prst="ellipse">
            <a:avLst/>
          </a:prstGeom>
          <a:solidFill>
            <a:srgbClr val="5B8DD9"/>
          </a:solidFill>
          <a:ln w="12700">
            <a:solidFill>
              <a:srgbClr val="5B8DD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56248" y="40416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132320" y="402336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8DD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Connections cannot separate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6583680" y="4590288"/>
            <a:ext cx="46634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body is built onto the one that feeds it, so a connection point holds exactly — by construction, not by penalty.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608076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Grades: OK  ·  HARD  ·  SEVERE — assumed tolerances, not feasibility verdicts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10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28600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2FA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FORMALISM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822960" y="269748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script actually solves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822960" y="3749040"/>
            <a:ext cx="9601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9C4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slides of formalism. Nothing biological is lost by skipping to the results — but if you want to know what “least-strained arrangement” means precisely, it means this.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10896"/>
            <a:ext cx="10881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3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FORMALISM · 1 / 6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566928"/>
            <a:ext cx="10881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is one constrained least-squares problem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234440"/>
            <a:ext cx="6071616" cy="1220650"/>
          </a:xfrm>
          <a:prstGeom prst="roundRect">
            <a:avLst>
              <a:gd name="adj" fmla="val 5993"/>
            </a:avLst>
          </a:prstGeom>
          <a:solidFill>
            <a:srgbClr val="F7F5FB"/>
          </a:solidFill>
          <a:ln w="12700">
            <a:solidFill>
              <a:srgbClr val="F7F5FB"/>
            </a:solidFill>
            <a:prstDash val="solid"/>
          </a:ln>
        </p:spPr>
      </p:sp>
      <p:pic>
        <p:nvPicPr>
          <p:cNvPr id="5" name="Image 0" descr="/Users/hatzopou/Dropbox/MyDocs/Scripts/CenGeom/presentations/figs/eq_objectiv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248" y="1435608"/>
            <a:ext cx="5669280" cy="81831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858000" y="1298448"/>
            <a:ext cx="4663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Generalised coordinates z: one angle per body, plus a buckling fraction per compressible segment. B bounds the buckling variables.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640080" y="251460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residual stacks six independent blocks:</a:t>
            </a:r>
            <a:endParaRPr lang="en-US" sz="1500" dirty="0"/>
          </a:p>
        </p:txBody>
      </p:sp>
      <p:pic>
        <p:nvPicPr>
          <p:cNvPr id="8" name="Image 1" descr="/Users/hatzopou/Dropbox/MyDocs/Scripts/CenGeom/presentations/figs/eq_residu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880360"/>
            <a:ext cx="10881360" cy="65330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640080" y="3977640"/>
            <a:ext cx="3520440" cy="1005840"/>
          </a:xfrm>
          <a:prstGeom prst="roundRect">
            <a:avLst>
              <a:gd name="adj" fmla="val 7273"/>
            </a:avLst>
          </a:prstGeom>
          <a:solidFill>
            <a:srgbClr val="F4F1F9"/>
          </a:solidFill>
          <a:ln w="12700">
            <a:solidFill>
              <a:srgbClr val="F4F1F9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822960" y="408736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B3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gₑ</a:t>
            </a:r>
            <a:endParaRPr lang="en-US" sz="1700" dirty="0"/>
          </a:p>
        </p:txBody>
      </p:sp>
      <p:sp>
        <p:nvSpPr>
          <p:cNvPr id="11" name="Text 7"/>
          <p:cNvSpPr/>
          <p:nvPr/>
        </p:nvSpPr>
        <p:spPr>
          <a:xfrm>
            <a:off x="1691640" y="4105656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loop closure</a:t>
            </a:r>
            <a:endParaRPr lang="en-US" sz="1350" dirty="0"/>
          </a:p>
        </p:txBody>
      </p:sp>
      <p:sp>
        <p:nvSpPr>
          <p:cNvPr id="12" name="Text 8"/>
          <p:cNvSpPr/>
          <p:nvPr/>
        </p:nvSpPr>
        <p:spPr>
          <a:xfrm>
            <a:off x="822960" y="44805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 gap at the two connections that close a ring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4361688" y="3977640"/>
            <a:ext cx="3520440" cy="1005840"/>
          </a:xfrm>
          <a:prstGeom prst="roundRect">
            <a:avLst>
              <a:gd name="adj" fmla="val 7273"/>
            </a:avLst>
          </a:prstGeom>
          <a:solidFill>
            <a:srgbClr val="F4F1F9"/>
          </a:solidFill>
          <a:ln w="12700">
            <a:solidFill>
              <a:srgbClr val="F4F1F9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4544568" y="408736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FA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Φⱼ(δⱼ)</a:t>
            </a:r>
            <a:endParaRPr lang="en-US" sz="1700" dirty="0"/>
          </a:p>
        </p:txBody>
      </p:sp>
      <p:sp>
        <p:nvSpPr>
          <p:cNvPr id="15" name="Text 11"/>
          <p:cNvSpPr/>
          <p:nvPr/>
        </p:nvSpPr>
        <p:spPr>
          <a:xfrm>
            <a:off x="5413248" y="4105656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joint strain</a:t>
            </a:r>
            <a:endParaRPr lang="en-US" sz="1350" dirty="0"/>
          </a:p>
        </p:txBody>
      </p:sp>
      <p:sp>
        <p:nvSpPr>
          <p:cNvPr id="16" name="Text 12"/>
          <p:cNvSpPr/>
          <p:nvPr/>
        </p:nvSpPr>
        <p:spPr>
          <a:xfrm>
            <a:off x="4544568" y="44805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banded penalty on each joint's rotation from rest</a:t>
            </a:r>
            <a:endParaRPr lang="en-US" sz="1150" dirty="0"/>
          </a:p>
        </p:txBody>
      </p:sp>
      <p:sp>
        <p:nvSpPr>
          <p:cNvPr id="17" name="Shape 13"/>
          <p:cNvSpPr/>
          <p:nvPr/>
        </p:nvSpPr>
        <p:spPr>
          <a:xfrm>
            <a:off x="8083296" y="3977640"/>
            <a:ext cx="3520440" cy="1005840"/>
          </a:xfrm>
          <a:prstGeom prst="roundRect">
            <a:avLst>
              <a:gd name="adj" fmla="val 7273"/>
            </a:avLst>
          </a:prstGeom>
          <a:solidFill>
            <a:srgbClr val="F4F1F9"/>
          </a:solidFill>
          <a:ln w="12700">
            <a:solidFill>
              <a:srgbClr val="F4F1F9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8266176" y="408736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C7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Δφᵢ</a:t>
            </a:r>
            <a:endParaRPr lang="en-US" sz="1700" dirty="0"/>
          </a:p>
        </p:txBody>
      </p:sp>
      <p:sp>
        <p:nvSpPr>
          <p:cNvPr id="19" name="Text 15"/>
          <p:cNvSpPr/>
          <p:nvPr/>
        </p:nvSpPr>
        <p:spPr>
          <a:xfrm>
            <a:off x="9134856" y="4105656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 spacing</a:t>
            </a:r>
            <a:endParaRPr lang="en-US" sz="1350" dirty="0"/>
          </a:p>
        </p:txBody>
      </p:sp>
      <p:sp>
        <p:nvSpPr>
          <p:cNvPr id="20" name="Text 16"/>
          <p:cNvSpPr/>
          <p:nvPr/>
        </p:nvSpPr>
        <p:spPr>
          <a:xfrm>
            <a:off x="8266176" y="44805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triplets held at equal angular pitch — the scaffold</a:t>
            </a:r>
            <a:endParaRPr lang="en-US" sz="1150" dirty="0"/>
          </a:p>
        </p:txBody>
      </p:sp>
      <p:sp>
        <p:nvSpPr>
          <p:cNvPr id="21" name="Shape 17"/>
          <p:cNvSpPr/>
          <p:nvPr/>
        </p:nvSpPr>
        <p:spPr>
          <a:xfrm>
            <a:off x="640080" y="5120640"/>
            <a:ext cx="3520440" cy="1005840"/>
          </a:xfrm>
          <a:prstGeom prst="roundRect">
            <a:avLst>
              <a:gd name="adj" fmla="val 7273"/>
            </a:avLst>
          </a:prstGeom>
          <a:solidFill>
            <a:srgbClr val="F4F1F9"/>
          </a:solidFill>
          <a:ln w="12700">
            <a:solidFill>
              <a:srgbClr val="F4F1F9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22960" y="523036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B8D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βₛ</a:t>
            </a:r>
            <a:endParaRPr lang="en-US" sz="1700" dirty="0"/>
          </a:p>
        </p:txBody>
      </p:sp>
      <p:sp>
        <p:nvSpPr>
          <p:cNvPr id="23" name="Text 19"/>
          <p:cNvSpPr/>
          <p:nvPr/>
        </p:nvSpPr>
        <p:spPr>
          <a:xfrm>
            <a:off x="1691640" y="5248656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buckling</a:t>
            </a:r>
            <a:endParaRPr lang="en-US" sz="1350" dirty="0"/>
          </a:p>
        </p:txBody>
      </p:sp>
      <p:sp>
        <p:nvSpPr>
          <p:cNvPr id="24" name="Text 20"/>
          <p:cNvSpPr/>
          <p:nvPr/>
        </p:nvSpPr>
        <p:spPr>
          <a:xfrm>
            <a:off x="822960" y="56235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penalises bowing, so segments shorten only when they must</a:t>
            </a:r>
            <a:endParaRPr lang="en-US" sz="1150" dirty="0"/>
          </a:p>
        </p:txBody>
      </p:sp>
      <p:sp>
        <p:nvSpPr>
          <p:cNvPr id="25" name="Shape 21"/>
          <p:cNvSpPr/>
          <p:nvPr/>
        </p:nvSpPr>
        <p:spPr>
          <a:xfrm>
            <a:off x="4361688" y="5120640"/>
            <a:ext cx="3520440" cy="1005840"/>
          </a:xfrm>
          <a:prstGeom prst="roundRect">
            <a:avLst>
              <a:gd name="adj" fmla="val 7273"/>
            </a:avLst>
          </a:prstGeom>
          <a:solidFill>
            <a:srgbClr val="F4F1F9"/>
          </a:solidFill>
          <a:ln w="12700">
            <a:solidFill>
              <a:srgbClr val="F4F1F9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4544568" y="523036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oᵢⱼ</a:t>
            </a:r>
            <a:endParaRPr lang="en-US" sz="1700" dirty="0"/>
          </a:p>
        </p:txBody>
      </p:sp>
      <p:sp>
        <p:nvSpPr>
          <p:cNvPr id="27" name="Text 23"/>
          <p:cNvSpPr/>
          <p:nvPr/>
        </p:nvSpPr>
        <p:spPr>
          <a:xfrm>
            <a:off x="5413248" y="5248656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 vs MT</a:t>
            </a:r>
            <a:endParaRPr lang="en-US" sz="1350" dirty="0"/>
          </a:p>
        </p:txBody>
      </p:sp>
      <p:sp>
        <p:nvSpPr>
          <p:cNvPr id="28" name="Text 24"/>
          <p:cNvSpPr/>
          <p:nvPr/>
        </p:nvSpPr>
        <p:spPr>
          <a:xfrm>
            <a:off x="4544568" y="56235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tubule overlap between different units</a:t>
            </a:r>
            <a:endParaRPr lang="en-US" sz="1150" dirty="0"/>
          </a:p>
        </p:txBody>
      </p:sp>
      <p:sp>
        <p:nvSpPr>
          <p:cNvPr id="29" name="Shape 25"/>
          <p:cNvSpPr/>
          <p:nvPr/>
        </p:nvSpPr>
        <p:spPr>
          <a:xfrm>
            <a:off x="8083296" y="5120640"/>
            <a:ext cx="3520440" cy="1005840"/>
          </a:xfrm>
          <a:prstGeom prst="roundRect">
            <a:avLst>
              <a:gd name="adj" fmla="val 7273"/>
            </a:avLst>
          </a:prstGeom>
          <a:solidFill>
            <a:srgbClr val="F4F1F9"/>
          </a:solidFill>
          <a:ln w="12700">
            <a:solidFill>
              <a:srgbClr val="F4F1F9"/>
            </a:solidFill>
            <a:prstDash val="solid"/>
          </a:ln>
        </p:spPr>
      </p:sp>
      <p:sp>
        <p:nvSpPr>
          <p:cNvPr id="30" name="Text 26"/>
          <p:cNvSpPr/>
          <p:nvPr/>
        </p:nvSpPr>
        <p:spPr>
          <a:xfrm>
            <a:off x="8266176" y="523036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h(−dₛₜ)</a:t>
            </a:r>
            <a:endParaRPr lang="en-US" sz="1700" dirty="0"/>
          </a:p>
        </p:txBody>
      </p:sp>
      <p:sp>
        <p:nvSpPr>
          <p:cNvPr id="31" name="Text 27"/>
          <p:cNvSpPr/>
          <p:nvPr/>
        </p:nvSpPr>
        <p:spPr>
          <a:xfrm>
            <a:off x="9134856" y="5248656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strand vs MT</a:t>
            </a:r>
            <a:endParaRPr lang="en-US" sz="1350" dirty="0"/>
          </a:p>
        </p:txBody>
      </p:sp>
      <p:sp>
        <p:nvSpPr>
          <p:cNvPr id="32" name="Text 28"/>
          <p:cNvSpPr/>
          <p:nvPr/>
        </p:nvSpPr>
        <p:spPr>
          <a:xfrm>
            <a:off x="8266176" y="56235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strand inside a tubule wall, its own width counted</a:t>
            </a:r>
            <a:endParaRPr lang="en-US" sz="1150" dirty="0"/>
          </a:p>
        </p:txBody>
      </p:sp>
      <p:sp>
        <p:nvSpPr>
          <p:cNvPr id="33" name="Text 29"/>
          <p:cNvSpPr/>
          <p:nvPr/>
        </p:nvSpPr>
        <p:spPr>
          <a:xfrm>
            <a:off x="640080" y="626364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 weights set the exchange rate between blocks. k_b = 600 makes closure dominate, so strain is pushed into the angles where it can be read — not traded against a visible gap.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10896"/>
            <a:ext cx="10881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3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FORMALISM · 2 / 6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566928"/>
            <a:ext cx="10881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Forward kinematics: a chain, not a soup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1207008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body is built onto the one that feeds it, so its pose is one angle, not three:</a:t>
            </a:r>
            <a:endParaRPr lang="en-US" sz="1450" dirty="0"/>
          </a:p>
        </p:txBody>
      </p:sp>
      <p:pic>
        <p:nvPicPr>
          <p:cNvPr id="5" name="Image 0" descr="/Users/hatzopou/Dropbox/MyDocs/Scripts/CenGeom/presentations/figs/eq_hu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517904"/>
            <a:ext cx="6035040" cy="500418"/>
          </a:xfrm>
          <a:prstGeom prst="rect">
            <a:avLst/>
          </a:prstGeom>
        </p:spPr>
      </p:pic>
      <p:pic>
        <p:nvPicPr>
          <p:cNvPr id="6" name="Image 1" descr="/Users/hatzopou/Dropbox/MyDocs/Scripts/CenGeom/presentations/figs/eq_chai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139696"/>
            <a:ext cx="5852160" cy="2115748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6903720" y="1481328"/>
            <a:ext cx="4617720" cy="2468880"/>
          </a:xfrm>
          <a:prstGeom prst="roundRect">
            <a:avLst>
              <a:gd name="adj" fmla="val 2963"/>
            </a:avLst>
          </a:prstGeom>
          <a:solidFill>
            <a:srgbClr val="EDE7F6"/>
          </a:solidFill>
          <a:ln w="12700">
            <a:solidFill>
              <a:srgbClr val="EDE7F6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7150608" y="1609344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A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it matters</a:t>
            </a:r>
            <a:endParaRPr lang="en-US" sz="1500" dirty="0"/>
          </a:p>
        </p:txBody>
      </p:sp>
      <p:sp>
        <p:nvSpPr>
          <p:cNvPr id="9" name="Text 5"/>
          <p:cNvSpPr/>
          <p:nvPr/>
        </p:nvSpPr>
        <p:spPr>
          <a:xfrm>
            <a:off x="7150608" y="1975104"/>
            <a:ext cx="416052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2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of the six connections are satisfied identically — a shared point, not a penalised one. They cannot separate at any load, however hard the structure is pushed. Giving every body a free pose and tying it with springs instead let the spoke visibly detach from the pinhead under a large perturbation.</a:t>
            </a:r>
            <a:endParaRPr lang="en-US" sz="1200" dirty="0"/>
          </a:p>
        </p:txBody>
      </p:sp>
      <p:sp>
        <p:nvSpPr>
          <p:cNvPr id="10" name="Text 6"/>
          <p:cNvSpPr/>
          <p:nvPr/>
        </p:nvSpPr>
        <p:spPr>
          <a:xfrm>
            <a:off x="640080" y="4315968"/>
            <a:ext cx="6766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two connections close a loop, and only these can open:</a:t>
            </a:r>
            <a:endParaRPr lang="en-US" sz="1450" dirty="0"/>
          </a:p>
        </p:txBody>
      </p:sp>
      <p:pic>
        <p:nvPicPr>
          <p:cNvPr id="11" name="Image 2" descr="/Users/hatzopou/Dropbox/MyDocs/Scripts/CenGeom/presentations/figs/eq_gap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4645152"/>
            <a:ext cx="6766560" cy="592518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640080" y="5358384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Counting the freedom left, for a 9-fold centriole:</a:t>
            </a:r>
            <a:endParaRPr lang="en-US" sz="1450" dirty="0"/>
          </a:p>
        </p:txBody>
      </p:sp>
      <p:pic>
        <p:nvPicPr>
          <p:cNvPr id="13" name="Image 3" descr="/Users/hatzopou/Dropbox/MyDocs/Scripts/CenGeom/presentations/figs/eq_dof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5687568"/>
            <a:ext cx="5120640" cy="1098378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6035040" y="5303520"/>
            <a:ext cx="5486400" cy="1325880"/>
          </a:xfrm>
          <a:prstGeom prst="roundRect">
            <a:avLst>
              <a:gd name="adj" fmla="val 5517"/>
            </a:avLst>
          </a:prstGeom>
          <a:solidFill>
            <a:srgbClr val="E8F5E9"/>
          </a:solidFill>
          <a:ln w="12700">
            <a:solidFill>
              <a:srgbClr val="E8F5E9"/>
            </a:solidFill>
            <a:prstDash val="solid"/>
          </a:ln>
        </p:spPr>
      </p:sp>
      <p:sp>
        <p:nvSpPr>
          <p:cNvPr id="15" name="Text 9"/>
          <p:cNvSpPr/>
          <p:nvPr/>
        </p:nvSpPr>
        <p:spPr>
          <a:xfrm>
            <a:off x="6263640" y="5468112"/>
            <a:ext cx="5074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162 unknowns in the old spring formulation; 45 here. Same structure, a quarter of the coordinates, and no redundancy for the solver to fight.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10896"/>
            <a:ext cx="10881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3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FORMALISM · 3 / 6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566928"/>
            <a:ext cx="10881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being minimised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1188720"/>
            <a:ext cx="6675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Joint strain is piecewise-linear in three bands, continuous everywhere so the optimiser stays well behaved, but with the slope stepping up at each threshold:</a:t>
            </a:r>
            <a:endParaRPr lang="en-US" sz="1400" dirty="0"/>
          </a:p>
        </p:txBody>
      </p:sp>
      <p:pic>
        <p:nvPicPr>
          <p:cNvPr id="5" name="Image 0" descr="/Users/hatzopou/Dropbox/MyDocs/Scripts/CenGeom/presentations/figs/eq_ban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691640"/>
            <a:ext cx="6675120" cy="931369"/>
          </a:xfrm>
          <a:prstGeom prst="rect">
            <a:avLst/>
          </a:prstGeom>
        </p:spPr>
      </p:pic>
      <p:pic>
        <p:nvPicPr>
          <p:cNvPr id="6" name="Image 1" descr="/Users/hatzopou/Dropbox/MyDocs/Scripts/CenGeom/presentations/figs/d_band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0" y="1207008"/>
            <a:ext cx="4069080" cy="235000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640080" y="2880360"/>
            <a:ext cx="6675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stretches — a segment's contour length is fixed and only its chord shortens:</a:t>
            </a:r>
            <a:endParaRPr lang="en-US" sz="1400" dirty="0"/>
          </a:p>
        </p:txBody>
      </p:sp>
      <p:pic>
        <p:nvPicPr>
          <p:cNvPr id="8" name="Image 2" descr="/Users/hatzopou/Dropbox/MyDocs/Scripts/CenGeom/presentations/figs/eq_buckl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91840"/>
            <a:ext cx="5852160" cy="626100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640080" y="406908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Sterics: tubules cannot overlap, and a strand cannot lie inside a tubule wall.</a:t>
            </a:r>
            <a:endParaRPr lang="en-US" sz="1400" dirty="0"/>
          </a:p>
        </p:txBody>
      </p:sp>
      <p:pic>
        <p:nvPicPr>
          <p:cNvPr id="10" name="Image 3" descr="/Users/hatzopou/Dropbox/MyDocs/Scripts/CenGeom/presentations/figs/eq_steric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4434840"/>
            <a:ext cx="4206240" cy="1617163"/>
          </a:xfrm>
          <a:prstGeom prst="rect">
            <a:avLst/>
          </a:prstGeom>
        </p:spPr>
      </p:pic>
      <p:sp>
        <p:nvSpPr>
          <p:cNvPr id="11" name="Shape 5"/>
          <p:cNvSpPr/>
          <p:nvPr/>
        </p:nvSpPr>
        <p:spPr>
          <a:xfrm>
            <a:off x="5943600" y="4343400"/>
            <a:ext cx="5577840" cy="1600200"/>
          </a:xfrm>
          <a:prstGeom prst="roundRect">
            <a:avLst>
              <a:gd name="adj" fmla="val 4571"/>
            </a:avLst>
          </a:prstGeom>
          <a:solidFill>
            <a:srgbClr val="FFF4E5"/>
          </a:solidFill>
          <a:ln w="12700">
            <a:solidFill>
              <a:srgbClr val="FFF4E5"/>
            </a:solidFill>
            <a:prstDash val="solid"/>
          </a:ln>
        </p:spPr>
      </p:sp>
      <p:sp>
        <p:nvSpPr>
          <p:cNvPr id="12" name="Text 6"/>
          <p:cNvSpPr/>
          <p:nvPr/>
        </p:nvSpPr>
        <p:spPr>
          <a:xfrm>
            <a:off x="6199632" y="448056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A5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wₛ is the one assumed number here</a:t>
            </a:r>
            <a:endParaRPr lang="en-US" sz="1400" dirty="0"/>
          </a:p>
        </p:txBody>
      </p:sp>
      <p:sp>
        <p:nvSpPr>
          <p:cNvPr id="13" name="Text 7"/>
          <p:cNvSpPr/>
          <p:nvPr/>
        </p:nvSpPr>
        <p:spPr>
          <a:xfrm>
            <a:off x="6199632" y="4846320"/>
            <a:ext cx="5120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strand half-width, 1 nm — half a two-stranded coiled coil. It was never fitted to any measurement. Without it a strand lying flat along a tubule wall measures zero clearance and passes; with it, grazing counts as overlap.</a:t>
            </a:r>
            <a:endParaRPr lang="en-US" sz="1200" dirty="0"/>
          </a:p>
        </p:txBody>
      </p:sp>
      <p:sp>
        <p:nvSpPr>
          <p:cNvPr id="14" name="Text 8"/>
          <p:cNvSpPr/>
          <p:nvPr/>
        </p:nvSpPr>
        <p:spPr>
          <a:xfrm>
            <a:off x="640080" y="6236208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hinge h is rounded over its first 0.1 nm. A hard corner is only C⁰, and with a finite-difference Jacobian that made the solver chatter — 1522 iterations instead of 36, for the same answer to five figures.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10896"/>
            <a:ext cx="10881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3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FORMALISM · 4 / 6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566928"/>
            <a:ext cx="10881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protofilament register is a discrete variable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1188720"/>
            <a:ext cx="6675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Contacts sit on named protofilaments, so a contact can slide only in whole steps of the lattice pitch. That makes the register an integer axis alongside the continuous solve:</a:t>
            </a:r>
            <a:endParaRPr lang="en-US" sz="1400" dirty="0"/>
          </a:p>
        </p:txBody>
      </p:sp>
      <p:pic>
        <p:nvPicPr>
          <p:cNvPr id="5" name="Image 0" descr="/Users/hatzopou/Dropbox/MyDocs/Scripts/CenGeom/presentations/figs/eq_pfang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737360"/>
            <a:ext cx="6583680" cy="604506"/>
          </a:xfrm>
          <a:prstGeom prst="rect">
            <a:avLst/>
          </a:prstGeom>
        </p:spPr>
      </p:pic>
      <p:pic>
        <p:nvPicPr>
          <p:cNvPr id="6" name="Image 1" descr="/Users/hatzopou/Dropbox/MyDocs/Scripts/CenGeom/presentations/figs/d_regist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1188720"/>
            <a:ext cx="4023360" cy="2542032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640080" y="2468880"/>
            <a:ext cx="6675120" cy="1508760"/>
          </a:xfrm>
          <a:prstGeom prst="roundRect">
            <a:avLst>
              <a:gd name="adj" fmla="val 4848"/>
            </a:avLst>
          </a:prstGeom>
          <a:solidFill>
            <a:srgbClr val="FFEBEE"/>
          </a:solidFill>
          <a:ln w="12700">
            <a:solidFill>
              <a:srgbClr val="FFEBEE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868680" y="2606040"/>
            <a:ext cx="6217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8E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rest angle must slide with the site</a:t>
            </a:r>
            <a:endParaRPr lang="en-US" sz="1450" dirty="0"/>
          </a:p>
        </p:txBody>
      </p:sp>
      <p:pic>
        <p:nvPicPr>
          <p:cNvPr id="9" name="Image 2" descr="/Users/hatzopou/Dropbox/MyDocs/Scripts/CenGeom/presentations/figs/eq_reref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2971800"/>
            <a:ext cx="6035040" cy="525746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640080" y="4096512"/>
            <a:ext cx="66751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was missing. Every shifted register was charged 27.7° of strain that was never there — past the 20° HARD limit before the structure had moved at all — so the search ranked bookkeeping, not mechanics.</a:t>
            </a:r>
            <a:endParaRPr lang="en-US" sz="1250" dirty="0"/>
          </a:p>
        </p:txBody>
      </p:sp>
      <p:sp>
        <p:nvSpPr>
          <p:cNvPr id="11" name="Text 6"/>
          <p:cNvSpPr/>
          <p:nvPr/>
        </p:nvSpPr>
        <p:spPr>
          <a:xfrm>
            <a:off x="640080" y="4754880"/>
            <a:ext cx="6035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a site must be reachable from outside its own tubule:</a:t>
            </a:r>
            <a:endParaRPr lang="en-US" sz="1400" dirty="0"/>
          </a:p>
        </p:txBody>
      </p:sp>
      <p:pic>
        <p:nvPicPr>
          <p:cNvPr id="12" name="Image 3" descr="/Users/hatzopou/Dropbox/MyDocs/Scripts/CenGeom/presentations/figs/eq_approach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5120640"/>
            <a:ext cx="6035040" cy="683780"/>
          </a:xfrm>
          <a:prstGeom prst="rect">
            <a:avLst/>
          </a:prstGeom>
        </p:spPr>
      </p:pic>
      <p:sp>
        <p:nvSpPr>
          <p:cNvPr id="13" name="Shape 7"/>
          <p:cNvSpPr/>
          <p:nvPr/>
        </p:nvSpPr>
        <p:spPr>
          <a:xfrm>
            <a:off x="6949440" y="4709160"/>
            <a:ext cx="4572000" cy="1600200"/>
          </a:xfrm>
          <a:prstGeom prst="roundRect">
            <a:avLst>
              <a:gd name="adj" fmla="val 4571"/>
            </a:avLst>
          </a:prstGeom>
          <a:solidFill>
            <a:srgbClr val="E8F5E9"/>
          </a:solidFill>
          <a:ln w="12700">
            <a:solidFill>
              <a:srgbClr val="E8F5E9"/>
            </a:solidFill>
            <a:prstDash val="solid"/>
          </a:ln>
        </p:spPr>
      </p:sp>
      <p:sp>
        <p:nvSpPr>
          <p:cNvPr id="14" name="Text 8"/>
          <p:cNvSpPr/>
          <p:nvPr/>
        </p:nvSpPr>
        <p:spPr>
          <a:xfrm>
            <a:off x="7178040" y="484632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5E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Assumption-free</a:t>
            </a:r>
            <a:endParaRPr lang="en-US" sz="1400" dirty="0"/>
          </a:p>
        </p:txBody>
      </p:sp>
      <p:sp>
        <p:nvSpPr>
          <p:cNvPr id="15" name="Text 9"/>
          <p:cNvSpPr/>
          <p:nvPr/>
        </p:nvSpPr>
        <p:spPr>
          <a:xfrm>
            <a:off x="7178040" y="5212080"/>
            <a:ext cx="41148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cosχ asks only which side of the wall the strand arrives from. It does not depend on the assumed strand width, on the steric weight, or on any tolerance — which is why a register ruled out on reachability is ruled out more firmly than one ruled out on clearance.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10896"/>
            <a:ext cx="10881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3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FORMALISM · 5 / 6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566928"/>
            <a:ext cx="10881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Solving it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1207008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Trust-region reflective Gauss–Newton on the bounded problem, with the Hessian approximated from the Jacobian and no analytic derivatives: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7168896" cy="1180191"/>
          </a:xfrm>
          <a:prstGeom prst="roundRect">
            <a:avLst>
              <a:gd name="adj" fmla="val 6198"/>
            </a:avLst>
          </a:prstGeom>
          <a:solidFill>
            <a:srgbClr val="F7F5FB"/>
          </a:solidFill>
          <a:ln w="12700">
            <a:solidFill>
              <a:srgbClr val="F7F5FB"/>
            </a:solidFill>
            <a:prstDash val="solid"/>
          </a:ln>
        </p:spPr>
      </p:sp>
      <p:pic>
        <p:nvPicPr>
          <p:cNvPr id="6" name="Image 0" descr="/Users/hatzopou/Dropbox/MyDocs/Scripts/CenGeom/presentations/figs/eq_gaussnewt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248" y="1938528"/>
            <a:ext cx="6766560" cy="777855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40080" y="3520440"/>
            <a:ext cx="10881360" cy="914400"/>
          </a:xfrm>
          <a:prstGeom prst="roundRect">
            <a:avLst>
              <a:gd name="adj" fmla="val 8000"/>
            </a:avLst>
          </a:prstGeom>
          <a:solidFill>
            <a:srgbClr val="F4F1F9"/>
          </a:solidFill>
          <a:ln w="12700">
            <a:solidFill>
              <a:srgbClr val="F4F1F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14400" y="3822192"/>
            <a:ext cx="292608" cy="292608"/>
          </a:xfrm>
          <a:prstGeom prst="ellipse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1371600" y="361188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3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Continuation past the barrier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709160" y="3630168"/>
            <a:ext cx="6629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rest-angle starting guess sits up to 7 nm inside a tubule wall at a short spoke. Solved cold that costs ~1500 iterations; solved first without the steric term it costs ~30 and lands already clear, so the full problem starts inside the feasible set.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40080" y="4544568"/>
            <a:ext cx="10881360" cy="914400"/>
          </a:xfrm>
          <a:prstGeom prst="roundRect">
            <a:avLst>
              <a:gd name="adj" fmla="val 8000"/>
            </a:avLst>
          </a:prstGeom>
          <a:solidFill>
            <a:srgbClr val="F4F1F9"/>
          </a:solidFill>
          <a:ln w="12700">
            <a:solidFill>
              <a:srgbClr val="F4F1F9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914400" y="4846320"/>
            <a:ext cx="292608" cy="292608"/>
          </a:xfrm>
          <a:prstGeom prst="ellipse">
            <a:avLst/>
          </a:prstGeom>
          <a:solidFill>
            <a:srgbClr val="2FA8A8"/>
          </a:solidFill>
          <a:ln w="12700">
            <a:solidFill>
              <a:srgbClr val="2FA8A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371600" y="4636008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A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fallback when the factorisation fails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709160" y="4654296"/>
            <a:ext cx="6629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dense SVD in the trust-region step occasionally will not converge on a badly conditioned geometry. That is linear algebra, not biology, so it retries with an iterative solver rather than taking down a 25-register scan for one bad cell.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640080" y="5568696"/>
            <a:ext cx="10881360" cy="914400"/>
          </a:xfrm>
          <a:prstGeom prst="roundRect">
            <a:avLst>
              <a:gd name="adj" fmla="val 8000"/>
            </a:avLst>
          </a:prstGeom>
          <a:solidFill>
            <a:srgbClr val="F4F1F9"/>
          </a:solidFill>
          <a:ln w="12700">
            <a:solidFill>
              <a:srgbClr val="F4F1F9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914400" y="5870448"/>
            <a:ext cx="292608" cy="292608"/>
          </a:xfrm>
          <a:prstGeom prst="ellipse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371600" y="5660136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is a model quantity, not evidence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4709160" y="5678424"/>
            <a:ext cx="6629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½‖r‖² is built from tolerances and bond strengths that were reasoned, never measured. It ranks candidates. It does not tell you which one nature picked.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40080" y="653796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Wild type solves in 0.4 s; a 25-register search takes about 4 minutes.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10896"/>
            <a:ext cx="10881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3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FORMALISM · 6 / 6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566928"/>
            <a:ext cx="10881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assumption you can switch off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1188720"/>
            <a:ext cx="10881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treatments of the cartwheel assume the spoke strains outwards without hinging where it meets its SAS-6 head. Setting αⱼ ≡ 0 imposes exactly that — and removes N_cw degrees of freedom, leaving 36 unknowns against 36 constraints: exactly determined, with no slack left to absorb a mismatch.</a:t>
            </a:r>
            <a:endParaRPr lang="en-US" sz="1450" dirty="0"/>
          </a:p>
        </p:txBody>
      </p:sp>
      <p:pic>
        <p:nvPicPr>
          <p:cNvPr id="5" name="Image 0" descr="/Users/hatzopou/Dropbox/MyDocs/Scripts/CenGeom/presentations/figs/d_spoke_lo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920240"/>
            <a:ext cx="6858000" cy="3547872"/>
          </a:xfrm>
          <a:prstGeom prst="rect">
            <a:avLst/>
          </a:prstGeom>
        </p:spPr>
      </p:pic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89520" y="1965960"/>
          <a:ext cx="39319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051560"/>
                <a:gridCol w="10515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 cw / 9 mt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3FA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3FA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locked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3FA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Outer diameter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256.4 nm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279.0 nm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Spoke rotation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-20.9°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0° (imposed)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Spoke buckling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1.1 %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27.5 %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Joint strain, RMS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7.1°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19.2°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Worst loop gap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 nm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0.186 nm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7589520" y="4572000"/>
            <a:ext cx="3931920" cy="914400"/>
          </a:xfrm>
          <a:prstGeom prst="roundRect">
            <a:avLst>
              <a:gd name="adj" fmla="val 8000"/>
            </a:avLst>
          </a:prstGeom>
          <a:solidFill>
            <a:srgbClr val="E8F5E9"/>
          </a:solidFill>
          <a:ln w="12700">
            <a:solidFill>
              <a:srgbClr val="E8F5E9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7790688" y="4700016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Wild type barely notices: 255.0 nm either way, strain 1.4° → 1.6°. A wild-type spoke hardly pivots anyway.</a:t>
            </a:r>
            <a:endParaRPr lang="en-US" sz="1150" dirty="0"/>
          </a:p>
        </p:txBody>
      </p:sp>
      <p:sp>
        <p:nvSpPr>
          <p:cNvPr id="9" name="Text 5"/>
          <p:cNvSpPr/>
          <p:nvPr/>
        </p:nvSpPr>
        <p:spPr>
          <a:xfrm>
            <a:off x="640080" y="5669280"/>
            <a:ext cx="10881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both. A conclusion that survives the toggle does not depend on the assumption; one that flips is being carried by it. Note that with the spoke locked its grade reads 0° by construction, not by relaxation — read the other joints and the gaps for where the strain went.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10896"/>
            <a:ext cx="10881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3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STRAIN IS GRADED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566928"/>
            <a:ext cx="10881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joint has its own tolerance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1298448"/>
            <a:ext cx="10881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rotation means different things at different connections. 15° at the base of the 45 nm spoke moves its tip 11.6 nm — a whole tubule radius — while the same angle at a 13 nm linker arm moves it 3.4 nm. So each is graded against its own limits.</a:t>
            </a:r>
            <a:endParaRPr lang="en-US" sz="15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103120"/>
          <a:ext cx="1088136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914400"/>
                <a:gridCol w="1188720"/>
                <a:gridCol w="1097280"/>
                <a:gridCol w="502920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Joint / contact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3FA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OK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3FA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3FA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SEVERE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3FA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3FA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Linker to A-tubule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8°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8–20°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 20°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grips a rigid, ordered lattice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Linker to C-tubule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8°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8–20°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 20°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same lattice, slightly weaker bond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Pinhead to A-tubule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10°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10–22°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 22°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lattice contact, larger footprint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Spoke vs radial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15°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15–35°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 35°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many SAS-6 rings stack axially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Pinhead vs spoke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15°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15–30°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 30°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multi-protein, three contacts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Triplet axis vs spoke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20°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20–40°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 40°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composite, not one interface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 vs spoke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20°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20–40°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 40°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designed to reorient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" y="5394960"/>
            <a:ext cx="10881360" cy="1188720"/>
          </a:xfrm>
          <a:prstGeom prst="roundRect">
            <a:avLst>
              <a:gd name="adj" fmla="val 6154"/>
            </a:avLst>
          </a:prstGeom>
          <a:solidFill>
            <a:srgbClr val="FFEBEE"/>
          </a:solidFill>
          <a:ln w="12700">
            <a:solidFill>
              <a:srgbClr val="FFEBEE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68680" y="5532120"/>
            <a:ext cx="10424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8E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are assumed tolerances, NOT verdicts on feasibility. The values were reasoned, not measured. A SAS-6 spoke shortened by 17 nm builds real centrioles, yet the model grades its linker contacts SEVERE while reporting zero clashes and a perfectly buildable geometry. Read them as “how far from wild type” and judge from the geometry itself.</a:t>
            </a:r>
            <a:endParaRPr lang="en-US" sz="13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10896"/>
            <a:ext cx="10881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3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566928"/>
            <a:ext cx="10881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model was never told 9-fold is special</a:t>
            </a:r>
            <a:endParaRPr lang="en-US" sz="3400" dirty="0"/>
          </a:p>
        </p:txBody>
      </p:sp>
      <p:pic>
        <p:nvPicPr>
          <p:cNvPr id="4" name="Image 0" descr="/Users/hatzopou/Dropbox/MyDocs/Scripts/CenGeom/presentations/figs/d_valid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371600"/>
            <a:ext cx="5943600" cy="37490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858000" y="1325880"/>
            <a:ext cx="4754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Sweeping each parameter independently, the measured wild-type value sits at a strain minimum every time:</a:t>
            </a:r>
            <a:endParaRPr lang="en-US" sz="14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0" y="2194560"/>
          <a:ext cx="4709160" cy="914400"/>
        </p:xfrm>
        <a:graphic>
          <a:graphicData uri="http://schemas.openxmlformats.org/drawingml/2006/table">
            <a:tbl>
              <a:tblPr/>
              <a:tblGrid>
                <a:gridCol w="2331720"/>
                <a:gridCol w="1234440"/>
                <a:gridCol w="114300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Parameter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3FA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3FA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3FA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Symmetry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SAS-6 coiled coil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45.0 nm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 nm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Triplet base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34.7 nm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34.7 nm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A-tubule protofilaments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Tubules per blade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6858000" y="4709160"/>
            <a:ext cx="4709160" cy="1371600"/>
          </a:xfrm>
          <a:prstGeom prst="roundRect">
            <a:avLst>
              <a:gd name="adj" fmla="val 5333"/>
            </a:avLst>
          </a:prstGeom>
          <a:solidFill>
            <a:srgbClr val="E8F5E9"/>
          </a:solidFill>
          <a:ln w="12700">
            <a:solidFill>
              <a:srgbClr val="E8F5E9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7059168" y="4864608"/>
            <a:ext cx="4343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Wild-type diameter comes out at 255 nm, against roughly 250 nm measured in real centrioles — and diameter was never fitted.</a:t>
            </a:r>
            <a:endParaRPr lang="en-US" sz="1400" dirty="0"/>
          </a:p>
        </p:txBody>
      </p:sp>
      <p:sp>
        <p:nvSpPr>
          <p:cNvPr id="9" name="Text 5"/>
          <p:cNvSpPr/>
          <p:nvPr/>
        </p:nvSpPr>
        <p:spPr>
          <a:xfrm>
            <a:off x="640080" y="525780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Strain rises steeply either side of 9: 15.1° at 8-fold, 15.9° at 10-fold, against 1.4° at 9.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10896"/>
            <a:ext cx="10881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3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566928"/>
            <a:ext cx="10881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it tells you</a:t>
            </a:r>
            <a:endParaRPr lang="en-US" sz="34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371600"/>
          <a:ext cx="1088136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822960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Readout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3FA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Biological meaning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3FA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Joint rotation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far each connection had to turn, graded OK / HARD / SEVERE against its own limits (assumed tolerances, not feasibility)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Bond load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Which connection carries most strain — i.e. which would rupture first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Buckling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Which segments were forced to bow because space became tight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Clashes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Microtubules overlapping in space. Anything above zero is physically impossible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Clearance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close the linker, base or spoke passes to a microtubule; negative means passing through one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Diameter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Outer, A-tubule ring, and lumen, in nm — directly comparable to EM measurements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Unattached triplets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Triplets the cartwheel could not reach — expected when the two symmetries differ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594360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grades comparatively — mutant against wild type — rather than as absolute verdicts.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10896"/>
            <a:ext cx="10881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3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IS FOR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566928"/>
            <a:ext cx="10881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worked prediction: symmetry mismatch</a:t>
            </a:r>
            <a:endParaRPr lang="en-US" sz="3400" dirty="0"/>
          </a:p>
        </p:txBody>
      </p:sp>
      <p:pic>
        <p:nvPicPr>
          <p:cNvPr id="4" name="Image 0" descr="/Users/hatzopou/Dropbox/MyDocs/Scripts/CenGeom/presentations/figs/d_mismat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234440"/>
            <a:ext cx="11155680" cy="39319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40080" y="5349240"/>
            <a:ext cx="10881360" cy="1143000"/>
          </a:xfrm>
          <a:prstGeom prst="roundRect">
            <a:avLst>
              <a:gd name="adj" fmla="val 6400"/>
            </a:avLst>
          </a:prstGeom>
          <a:solidFill>
            <a:srgbClr val="EDE7F6"/>
          </a:solidFill>
          <a:ln w="12700">
            <a:solidFill>
              <a:srgbClr val="EDE7F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68680" y="548640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2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SAS-6 makes an 8-fold cartwheel but nine triplets are still built, the model predicts the triplet ring keeps wild-type spacing and diameter (256 nm, against 255 at wild type) while the cartwheel absorbs the entire mismatch — the spoke swings -20.9° to reach, grading HARD, and 1 triplet is left with no pinhead at all. A fully 8-fold centriole instead shrinks to 233 nm.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10896"/>
            <a:ext cx="10881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3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PRACTICALITIES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566928"/>
            <a:ext cx="10881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Using it takes no coding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10881360" cy="1005840"/>
          </a:xfrm>
          <a:prstGeom prst="roundRect">
            <a:avLst>
              <a:gd name="adj" fmla="val 7273"/>
            </a:avLst>
          </a:prstGeom>
          <a:solidFill>
            <a:srgbClr val="F4F1F9"/>
          </a:solidFill>
          <a:ln w="12700">
            <a:solidFill>
              <a:srgbClr val="F4F1F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32688" y="1755648"/>
            <a:ext cx="420624" cy="420624"/>
          </a:xfrm>
          <a:prstGeom prst="ellipse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32688" y="17556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536192" y="1609344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Double-click the launcher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4846320" y="1609344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Sets everything up the first time and opens in your browser.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2633472"/>
            <a:ext cx="10881360" cy="1005840"/>
          </a:xfrm>
          <a:prstGeom prst="roundRect">
            <a:avLst>
              <a:gd name="adj" fmla="val 7273"/>
            </a:avLst>
          </a:prstGeom>
          <a:solidFill>
            <a:srgbClr val="F4F1F9"/>
          </a:solidFill>
          <a:ln w="12700">
            <a:solidFill>
              <a:srgbClr val="F4F1F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2688" y="2926080"/>
            <a:ext cx="420624" cy="420624"/>
          </a:xfrm>
          <a:prstGeom prst="ellipse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32688" y="29260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536192" y="2779776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Cross-section tab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846320" y="2779776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any parameter; the geometry redraws with every metric.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40080" y="3803904"/>
            <a:ext cx="10881360" cy="1005840"/>
          </a:xfrm>
          <a:prstGeom prst="roundRect">
            <a:avLst>
              <a:gd name="adj" fmla="val 7273"/>
            </a:avLst>
          </a:prstGeom>
          <a:solidFill>
            <a:srgbClr val="F4F1F9"/>
          </a:solidFill>
          <a:ln w="12700">
            <a:solidFill>
              <a:srgbClr val="F4F1F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32688" y="4096512"/>
            <a:ext cx="420624" cy="420624"/>
          </a:xfrm>
          <a:prstGeom prst="ellipse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32688" y="40965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536192" y="395020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Parameter scan tab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846320" y="3950208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Vary one parameter; all metrics plotted, with cross-sections and a wild-type reference.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40080" y="4974336"/>
            <a:ext cx="10881360" cy="1005840"/>
          </a:xfrm>
          <a:prstGeom prst="roundRect">
            <a:avLst>
              <a:gd name="adj" fmla="val 7273"/>
            </a:avLst>
          </a:prstGeom>
          <a:solidFill>
            <a:srgbClr val="F4F1F9"/>
          </a:solidFill>
          <a:ln w="12700">
            <a:solidFill>
              <a:srgbClr val="F4F1F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32688" y="5266944"/>
            <a:ext cx="420624" cy="420624"/>
          </a:xfrm>
          <a:prstGeom prst="ellipse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32688" y="526694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536192" y="51206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2-parameter scan tab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4846320" y="512064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 any two — e.g. coiled-coil length against symmetry — as heatmaps or curves.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626364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Sliders for symmetry, typed boxes for every distance, and CSV download on every scan.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B10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8580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model is not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822960" y="1572768"/>
            <a:ext cx="10515600" cy="786384"/>
          </a:xfrm>
          <a:prstGeom prst="roundRect">
            <a:avLst>
              <a:gd name="adj" fmla="val 6977"/>
            </a:avLst>
          </a:prstGeom>
          <a:solidFill>
            <a:srgbClr val="2A1B4D"/>
          </a:solidFill>
          <a:ln w="12700">
            <a:solidFill>
              <a:srgbClr val="2A1B4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0" y="1627632"/>
            <a:ext cx="4160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FA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not a physics simulation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5349240" y="1627632"/>
            <a:ext cx="5760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C4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a geometric and mechanical model for generating hypotheses. Bond strengths are a rank ordering, not measured energies.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822960" y="2478024"/>
            <a:ext cx="10515600" cy="786384"/>
          </a:xfrm>
          <a:prstGeom prst="roundRect">
            <a:avLst>
              <a:gd name="adj" fmla="val 6977"/>
            </a:avLst>
          </a:prstGeom>
          <a:solidFill>
            <a:srgbClr val="2A1B4D"/>
          </a:solidFill>
          <a:ln w="12700">
            <a:solidFill>
              <a:srgbClr val="2A1B4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7280" y="2532888"/>
            <a:ext cx="4160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FA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joint thresholds are reasoned, not measured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5349240" y="2532888"/>
            <a:ext cx="5760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C4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sub-tomogram angular variance was available to calibrate OK / HARD / SEVERE. Their rank ordering is defensible; the absolute numbers are not.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822960" y="3383280"/>
            <a:ext cx="10515600" cy="786384"/>
          </a:xfrm>
          <a:prstGeom prst="roundRect">
            <a:avLst>
              <a:gd name="adj" fmla="val 6977"/>
            </a:avLst>
          </a:prstGeom>
          <a:solidFill>
            <a:srgbClr val="2A1B4D"/>
          </a:solidFill>
          <a:ln w="12700">
            <a:solidFill>
              <a:srgbClr val="2A1B4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0" y="3438144"/>
            <a:ext cx="4160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FA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a single 2D cross-section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5349240" y="3438144"/>
            <a:ext cx="5760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C4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 centriole twists along its length. Anything longitudinal is outside its scope.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22960" y="4288536"/>
            <a:ext cx="10515600" cy="786384"/>
          </a:xfrm>
          <a:prstGeom prst="roundRect">
            <a:avLst>
              <a:gd name="adj" fmla="val 6977"/>
            </a:avLst>
          </a:prstGeom>
          <a:solidFill>
            <a:srgbClr val="2A1B4D"/>
          </a:solidFill>
          <a:ln w="12700">
            <a:solidFill>
              <a:srgbClr val="2A1B4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97280" y="4343400"/>
            <a:ext cx="4160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FA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Grades are not feasibility verdicts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5349240" y="4343400"/>
            <a:ext cx="5760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C4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tolerances were reasoned, not measured. Structures assemble in conditions graded SEVERE.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22960" y="5193792"/>
            <a:ext cx="10515600" cy="786384"/>
          </a:xfrm>
          <a:prstGeom prst="roundRect">
            <a:avLst>
              <a:gd name="adj" fmla="val 6977"/>
            </a:avLst>
          </a:prstGeom>
          <a:solidFill>
            <a:srgbClr val="2A1B4D"/>
          </a:solidFill>
          <a:ln w="12700">
            <a:solidFill>
              <a:srgbClr val="2A1B4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97280" y="5248656"/>
            <a:ext cx="4160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FA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Calibration rests on one schematic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5349240" y="5248656"/>
            <a:ext cx="5760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C4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Protofilament positions carry about 2° (~0.4 nm) of reading noise, which sets the precision floor.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22960" y="626364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2FA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within those limits, it answers a question intuition cannot: given everything is connected, what has to give?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CenGeometry</dc:creator>
  <cp:lastModifiedBy>CenGeometry</cp:lastModifiedBy>
  <cp:revision>1</cp:revision>
  <dcterms:created xsi:type="dcterms:W3CDTF">2026-08-03T10:13:41Z</dcterms:created>
  <dcterms:modified xsi:type="dcterms:W3CDTF">2026-08-03T10:13:41Z</dcterms:modified>
</cp:coreProperties>
</file>