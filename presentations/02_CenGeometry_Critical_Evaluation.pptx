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Wall-clock per configuration (chain solver)</a:t>
            </a:r>
          </a:p>
        </c:rich>
      </c:tx>
      <c:layout/>
      <c:overlay val="0"/>
    </c:title>
    <c:autoTitleDeleted val="0"/>
    <c:plotArea>
      <c:layout/>
      <c:barChart>
        <c:barDir val="col"/>
        <c:grouping val="clustered"/>
        <c:varyColors val="0"/>
        <c:ser>
          <c:idx val="0"/>
          <c:order val="0"/>
          <c:tx>
            <c:strRef>
              <c:f>Sheet1!$B$1</c:f>
              <c:strCache>
                <c:ptCount val="1"/>
                <c:pt idx="0">
                  <c:v>Solve time (s)</c:v>
                </c:pt>
              </c:strCache>
            </c:strRef>
          </c:tx>
          <c:spPr>
            <a:solidFill>
              <a:srgbClr val="2E7D32"/>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wild type</c:v>
                  </c:pt>
                  <c:pt idx="1">
                    <c:v>8 cw / 9 mt</c:v>
                  </c:pt>
                  <c:pt idx="2">
                    <c:v>n_pf = 9</c:v>
                  </c:pt>
                  <c:pt idx="3">
                    <c:v>n_pf = 18</c:v>
                  </c:pt>
                  <c:pt idx="4">
                    <c:v>spoke 28 nm</c:v>
                  </c:pt>
                </c:lvl>
              </c:multiLvlStrCache>
            </c:multiLvlStrRef>
          </c:cat>
          <c:val>
            <c:numRef>
              <c:f>Sheet1!$B$2:$B$6</c:f>
              <c:numCache>
                <c:formatCode>General</c:formatCode>
                <c:ptCount val="5"/>
                <c:pt idx="0">
                  <c:v>0.44</c:v>
                </c:pt>
                <c:pt idx="1">
                  <c:v>1.28</c:v>
                </c:pt>
                <c:pt idx="2">
                  <c:v>1.7</c:v>
                </c:pt>
                <c:pt idx="3">
                  <c:v>2.86</c:v>
                </c:pt>
                <c:pt idx="4">
                  <c:v>0.86</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AEA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035"/>
        </a:solidFill>
      </p:bgPr>
    </p:bg>
    <p:spTree>
      <p:nvGrpSpPr>
        <p:cNvPr id="1" name=""/>
        <p:cNvGrpSpPr/>
        <p:nvPr/>
      </p:nvGrpSpPr>
      <p:grpSpPr>
        <a:xfrm>
          <a:off x="0" y="0"/>
          <a:ext cx="0" cy="0"/>
          <a:chOff x="0" y="0"/>
          <a:chExt cx="0" cy="0"/>
        </a:xfrm>
      </p:grpSpPr>
      <p:sp>
        <p:nvSpPr>
          <p:cNvPr id="2" name="Text 0"/>
          <p:cNvSpPr/>
          <p:nvPr/>
        </p:nvSpPr>
        <p:spPr>
          <a:xfrm>
            <a:off x="822960" y="1371600"/>
            <a:ext cx="10515600" cy="365760"/>
          </a:xfrm>
          <a:prstGeom prst="rect">
            <a:avLst/>
          </a:prstGeom>
          <a:noFill/>
          <a:ln/>
        </p:spPr>
        <p:txBody>
          <a:bodyPr wrap="square" rtlCol="0" anchor="ctr"/>
          <a:lstStyle/>
          <a:p>
            <a:pPr indent="0" marL="0">
              <a:buNone/>
            </a:pPr>
            <a:r>
              <a:rPr lang="en-US" sz="1500" b="1" spc="300" kern="0" dirty="0">
                <a:solidFill>
                  <a:srgbClr val="2FA8A8"/>
                </a:solidFill>
                <a:latin typeface="Calibri" pitchFamily="34" charset="0"/>
                <a:ea typeface="Calibri" pitchFamily="34" charset="-122"/>
                <a:cs typeface="Calibri" pitchFamily="34" charset="-120"/>
              </a:rPr>
              <a:t>CRITICAL EVALUATION</a:t>
            </a:r>
            <a:endParaRPr lang="en-US" sz="1500" dirty="0"/>
          </a:p>
        </p:txBody>
      </p:sp>
      <p:sp>
        <p:nvSpPr>
          <p:cNvPr id="3" name="Text 1"/>
          <p:cNvSpPr/>
          <p:nvPr/>
        </p:nvSpPr>
        <p:spPr>
          <a:xfrm>
            <a:off x="822960" y="1783080"/>
            <a:ext cx="10881360" cy="1965960"/>
          </a:xfrm>
          <a:prstGeom prst="rect">
            <a:avLst/>
          </a:prstGeom>
          <a:noFill/>
          <a:ln/>
        </p:spPr>
        <p:txBody>
          <a:bodyPr wrap="square" rtlCol="0" anchor="ctr"/>
          <a:lstStyle/>
          <a:p>
            <a:pPr indent="0" marL="0">
              <a:buNone/>
            </a:pPr>
            <a:r>
              <a:rPr lang="en-US" sz="4100" b="1" dirty="0">
                <a:solidFill>
                  <a:srgbClr val="FFFFFF"/>
                </a:solidFill>
                <a:latin typeface="Cambria" pitchFamily="34" charset="0"/>
                <a:ea typeface="Cambria" pitchFamily="34" charset="-122"/>
                <a:cs typeface="Cambria" pitchFamily="34" charset="-120"/>
              </a:rPr>
              <a:t>What this model cannot</a:t>
            </a:r>
            <a:endParaRPr lang="en-US" sz="4100" dirty="0"/>
          </a:p>
          <a:p>
            <a:pPr indent="0" marL="0">
              <a:buNone/>
            </a:pPr>
            <a:r>
              <a:rPr lang="en-US" sz="4100" b="1" dirty="0">
                <a:solidFill>
                  <a:srgbClr val="FFFFFF"/>
                </a:solidFill>
                <a:latin typeface="Cambria" pitchFamily="34" charset="0"/>
                <a:ea typeface="Cambria" pitchFamily="34" charset="-122"/>
                <a:cs typeface="Cambria" pitchFamily="34" charset="-120"/>
              </a:rPr>
              <a:t>currently be trusted to tell you</a:t>
            </a:r>
            <a:endParaRPr lang="en-US" sz="4100" dirty="0"/>
          </a:p>
        </p:txBody>
      </p:sp>
      <p:sp>
        <p:nvSpPr>
          <p:cNvPr id="4" name="Text 2"/>
          <p:cNvSpPr/>
          <p:nvPr/>
        </p:nvSpPr>
        <p:spPr>
          <a:xfrm>
            <a:off x="822960" y="3886200"/>
            <a:ext cx="9966960" cy="1005840"/>
          </a:xfrm>
          <a:prstGeom prst="rect">
            <a:avLst/>
          </a:prstGeom>
          <a:noFill/>
          <a:ln/>
        </p:spPr>
        <p:txBody>
          <a:bodyPr wrap="square" rtlCol="0" anchor="ctr"/>
          <a:lstStyle/>
          <a:p>
            <a:pPr indent="0" marL="0">
              <a:buNone/>
            </a:pPr>
            <a:r>
              <a:rPr lang="en-US" sz="1800" dirty="0">
                <a:solidFill>
                  <a:srgbClr val="C9C4DB"/>
                </a:solidFill>
                <a:latin typeface="Calibri" pitchFamily="34" charset="0"/>
                <a:ea typeface="Calibri" pitchFamily="34" charset="-122"/>
                <a:cs typeface="Calibri" pitchFamily="34" charset="-120"/>
              </a:rPr>
              <a:t>An assessment of CenGeometry's limitations, ranked by severity</a:t>
            </a:r>
            <a:endParaRPr lang="en-US" sz="1800" dirty="0"/>
          </a:p>
        </p:txBody>
      </p:sp>
      <p:sp>
        <p:nvSpPr>
          <p:cNvPr id="5" name="Text 3"/>
          <p:cNvSpPr/>
          <p:nvPr/>
        </p:nvSpPr>
        <p:spPr>
          <a:xfrm>
            <a:off x="822960" y="5760720"/>
            <a:ext cx="10515600" cy="548640"/>
          </a:xfrm>
          <a:prstGeom prst="rect">
            <a:avLst/>
          </a:prstGeom>
          <a:noFill/>
          <a:ln/>
        </p:spPr>
        <p:txBody>
          <a:bodyPr wrap="square" rtlCol="0" anchor="ctr"/>
          <a:lstStyle/>
          <a:p>
            <a:pPr indent="0" marL="0">
              <a:buNone/>
            </a:pPr>
            <a:r>
              <a:rPr lang="en-US" sz="1200" i="1" dirty="0">
                <a:solidFill>
                  <a:srgbClr val="9A93B5"/>
                </a:solidFill>
                <a:latin typeface="Calibri" pitchFamily="34" charset="0"/>
                <a:ea typeface="Calibri" pitchFamily="34" charset="-122"/>
                <a:cs typeface="Calibri" pitchFamily="34" charset="-120"/>
              </a:rPr>
              <a:t>Caveat on this review: it was written by the same process that built the tool. Self-assessment is weaker than independent review — an outside critic should repeat 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A FAIR STARTING POINT</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First, what it genuinely achieves</a:t>
            </a:r>
            <a:endParaRPr lang="en-US" sz="3400" dirty="0"/>
          </a:p>
        </p:txBody>
      </p:sp>
      <p:sp>
        <p:nvSpPr>
          <p:cNvPr id="4" name="Shape 2"/>
          <p:cNvSpPr/>
          <p:nvPr/>
        </p:nvSpPr>
        <p:spPr>
          <a:xfrm>
            <a:off x="640080" y="1463040"/>
            <a:ext cx="5257800" cy="1965960"/>
          </a:xfrm>
          <a:prstGeom prst="roundRect">
            <a:avLst>
              <a:gd name="adj" fmla="val 3721"/>
            </a:avLst>
          </a:prstGeom>
          <a:solidFill>
            <a:srgbClr val="E8F5E9"/>
          </a:solidFill>
          <a:ln w="12700">
            <a:solidFill>
              <a:srgbClr val="E8F5E9"/>
            </a:solidFill>
            <a:prstDash val="solid"/>
          </a:ln>
        </p:spPr>
      </p:sp>
      <p:sp>
        <p:nvSpPr>
          <p:cNvPr id="5" name="Text 3"/>
          <p:cNvSpPr/>
          <p:nvPr/>
        </p:nvSpPr>
        <p:spPr>
          <a:xfrm>
            <a:off x="960120" y="1691640"/>
            <a:ext cx="4663440" cy="411480"/>
          </a:xfrm>
          <a:prstGeom prst="rect">
            <a:avLst/>
          </a:prstGeom>
          <a:noFill/>
          <a:ln/>
        </p:spPr>
        <p:txBody>
          <a:bodyPr wrap="square" lIns="0" tIns="0" rIns="0" bIns="0" rtlCol="0" anchor="ctr"/>
          <a:lstStyle/>
          <a:p>
            <a:pPr indent="0" marL="0">
              <a:buNone/>
            </a:pPr>
            <a:r>
              <a:rPr lang="en-US" sz="1800" b="1" dirty="0">
                <a:solidFill>
                  <a:srgbClr val="1B5E20"/>
                </a:solidFill>
                <a:latin typeface="Cambria" pitchFamily="34" charset="0"/>
                <a:ea typeface="Cambria" pitchFamily="34" charset="-122"/>
                <a:cs typeface="Cambria" pitchFamily="34" charset="-120"/>
              </a:rPr>
              <a:t>Traceable calibration</a:t>
            </a:r>
            <a:endParaRPr lang="en-US" sz="1800" dirty="0"/>
          </a:p>
        </p:txBody>
      </p:sp>
      <p:sp>
        <p:nvSpPr>
          <p:cNvPr id="6" name="Text 4"/>
          <p:cNvSpPr/>
          <p:nvPr/>
        </p:nvSpPr>
        <p:spPr>
          <a:xfrm>
            <a:off x="960120" y="2212848"/>
            <a:ext cx="4663440" cy="10515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Every dimension but one is derived from a schematic by a re-runnable script. That is better practice than most models of this kind.</a:t>
            </a:r>
            <a:endParaRPr lang="en-US" sz="1400" dirty="0"/>
          </a:p>
        </p:txBody>
      </p:sp>
      <p:sp>
        <p:nvSpPr>
          <p:cNvPr id="7" name="Shape 5"/>
          <p:cNvSpPr/>
          <p:nvPr/>
        </p:nvSpPr>
        <p:spPr>
          <a:xfrm>
            <a:off x="6263640" y="1463040"/>
            <a:ext cx="5257800" cy="1965960"/>
          </a:xfrm>
          <a:prstGeom prst="roundRect">
            <a:avLst>
              <a:gd name="adj" fmla="val 3721"/>
            </a:avLst>
          </a:prstGeom>
          <a:solidFill>
            <a:srgbClr val="E8F5E9"/>
          </a:solidFill>
          <a:ln w="12700">
            <a:solidFill>
              <a:srgbClr val="E8F5E9"/>
            </a:solidFill>
            <a:prstDash val="solid"/>
          </a:ln>
        </p:spPr>
      </p:sp>
      <p:sp>
        <p:nvSpPr>
          <p:cNvPr id="8" name="Text 6"/>
          <p:cNvSpPr/>
          <p:nvPr/>
        </p:nvSpPr>
        <p:spPr>
          <a:xfrm>
            <a:off x="6583680" y="1691640"/>
            <a:ext cx="4663440" cy="411480"/>
          </a:xfrm>
          <a:prstGeom prst="rect">
            <a:avLst/>
          </a:prstGeom>
          <a:noFill/>
          <a:ln/>
        </p:spPr>
        <p:txBody>
          <a:bodyPr wrap="square" lIns="0" tIns="0" rIns="0" bIns="0" rtlCol="0" anchor="ctr"/>
          <a:lstStyle/>
          <a:p>
            <a:pPr indent="0" marL="0">
              <a:buNone/>
            </a:pPr>
            <a:r>
              <a:rPr lang="en-US" sz="1800" b="1" dirty="0">
                <a:solidFill>
                  <a:srgbClr val="1B5E20"/>
                </a:solidFill>
                <a:latin typeface="Cambria" pitchFamily="34" charset="0"/>
                <a:ea typeface="Cambria" pitchFamily="34" charset="-122"/>
                <a:cs typeface="Cambria" pitchFamily="34" charset="-120"/>
              </a:rPr>
              <a:t>Real structural findings</a:t>
            </a:r>
            <a:endParaRPr lang="en-US" sz="1800" dirty="0"/>
          </a:p>
        </p:txBody>
      </p:sp>
      <p:sp>
        <p:nvSpPr>
          <p:cNvPr id="9" name="Text 7"/>
          <p:cNvSpPr/>
          <p:nvPr/>
        </p:nvSpPr>
        <p:spPr>
          <a:xfrm>
            <a:off x="6583680" y="2212848"/>
            <a:ext cx="4663440" cy="10515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Measurement revealed the shared protofilament lattice and the bent A-C linker. Neither was assumed.</a:t>
            </a:r>
            <a:endParaRPr lang="en-US" sz="1400" dirty="0"/>
          </a:p>
        </p:txBody>
      </p:sp>
      <p:sp>
        <p:nvSpPr>
          <p:cNvPr id="10" name="Shape 8"/>
          <p:cNvSpPr/>
          <p:nvPr/>
        </p:nvSpPr>
        <p:spPr>
          <a:xfrm>
            <a:off x="640080" y="3703320"/>
            <a:ext cx="5257800" cy="1965960"/>
          </a:xfrm>
          <a:prstGeom prst="roundRect">
            <a:avLst>
              <a:gd name="adj" fmla="val 3721"/>
            </a:avLst>
          </a:prstGeom>
          <a:solidFill>
            <a:srgbClr val="E8F5E9"/>
          </a:solidFill>
          <a:ln w="12700">
            <a:solidFill>
              <a:srgbClr val="E8F5E9"/>
            </a:solidFill>
            <a:prstDash val="solid"/>
          </a:ln>
        </p:spPr>
      </p:sp>
      <p:sp>
        <p:nvSpPr>
          <p:cNvPr id="11" name="Text 9"/>
          <p:cNvSpPr/>
          <p:nvPr/>
        </p:nvSpPr>
        <p:spPr>
          <a:xfrm>
            <a:off x="960120" y="3931920"/>
            <a:ext cx="4663440" cy="411480"/>
          </a:xfrm>
          <a:prstGeom prst="rect">
            <a:avLst/>
          </a:prstGeom>
          <a:noFill/>
          <a:ln/>
        </p:spPr>
        <p:txBody>
          <a:bodyPr wrap="square" lIns="0" tIns="0" rIns="0" bIns="0" rtlCol="0" anchor="ctr"/>
          <a:lstStyle/>
          <a:p>
            <a:pPr indent="0" marL="0">
              <a:buNone/>
            </a:pPr>
            <a:r>
              <a:rPr lang="en-US" sz="1800" b="1" dirty="0">
                <a:solidFill>
                  <a:srgbClr val="1B5E20"/>
                </a:solidFill>
                <a:latin typeface="Cambria" pitchFamily="34" charset="0"/>
                <a:ea typeface="Cambria" pitchFamily="34" charset="-122"/>
                <a:cs typeface="Cambria" pitchFamily="34" charset="-120"/>
              </a:rPr>
              <a:t>An independent number that matches</a:t>
            </a:r>
            <a:endParaRPr lang="en-US" sz="1800" dirty="0"/>
          </a:p>
        </p:txBody>
      </p:sp>
      <p:sp>
        <p:nvSpPr>
          <p:cNvPr id="12" name="Text 10"/>
          <p:cNvSpPr/>
          <p:nvPr/>
        </p:nvSpPr>
        <p:spPr>
          <a:xfrm>
            <a:off x="960120" y="4453128"/>
            <a:ext cx="4663440" cy="10515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Wild-type diameter of 255 nm against ~250 nm measured. Diameter was never fitted.</a:t>
            </a:r>
            <a:endParaRPr lang="en-US" sz="1400" dirty="0"/>
          </a:p>
        </p:txBody>
      </p:sp>
      <p:sp>
        <p:nvSpPr>
          <p:cNvPr id="13" name="Shape 11"/>
          <p:cNvSpPr/>
          <p:nvPr/>
        </p:nvSpPr>
        <p:spPr>
          <a:xfrm>
            <a:off x="6263640" y="3703320"/>
            <a:ext cx="5257800" cy="1965960"/>
          </a:xfrm>
          <a:prstGeom prst="roundRect">
            <a:avLst>
              <a:gd name="adj" fmla="val 3721"/>
            </a:avLst>
          </a:prstGeom>
          <a:solidFill>
            <a:srgbClr val="E8F5E9"/>
          </a:solidFill>
          <a:ln w="12700">
            <a:solidFill>
              <a:srgbClr val="E8F5E9"/>
            </a:solidFill>
            <a:prstDash val="solid"/>
          </a:ln>
        </p:spPr>
      </p:sp>
      <p:sp>
        <p:nvSpPr>
          <p:cNvPr id="14" name="Text 12"/>
          <p:cNvSpPr/>
          <p:nvPr/>
        </p:nvSpPr>
        <p:spPr>
          <a:xfrm>
            <a:off x="6583680" y="3931920"/>
            <a:ext cx="4663440" cy="411480"/>
          </a:xfrm>
          <a:prstGeom prst="rect">
            <a:avLst/>
          </a:prstGeom>
          <a:noFill/>
          <a:ln/>
        </p:spPr>
        <p:txBody>
          <a:bodyPr wrap="square" lIns="0" tIns="0" rIns="0" bIns="0" rtlCol="0" anchor="ctr"/>
          <a:lstStyle/>
          <a:p>
            <a:pPr indent="0" marL="0">
              <a:buNone/>
            </a:pPr>
            <a:r>
              <a:rPr lang="en-US" sz="1800" b="1" dirty="0">
                <a:solidFill>
                  <a:srgbClr val="1B5E20"/>
                </a:solidFill>
                <a:latin typeface="Cambria" pitchFamily="34" charset="0"/>
                <a:ea typeface="Cambria" pitchFamily="34" charset="-122"/>
                <a:cs typeface="Cambria" pitchFamily="34" charset="-120"/>
              </a:rPr>
              <a:t>Honest internal documentation</a:t>
            </a:r>
            <a:endParaRPr lang="en-US" sz="1800" dirty="0"/>
          </a:p>
        </p:txBody>
      </p:sp>
      <p:sp>
        <p:nvSpPr>
          <p:cNvPr id="15" name="Text 13"/>
          <p:cNvSpPr/>
          <p:nvPr/>
        </p:nvSpPr>
        <p:spPr>
          <a:xfrm>
            <a:off x="6583680" y="4453128"/>
            <a:ext cx="4663440" cy="10515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Failed analyses are parked with their blockers recorded rather than quietly dropped.</a:t>
            </a:r>
            <a:endParaRPr lang="en-US" sz="1400" dirty="0"/>
          </a:p>
        </p:txBody>
      </p:sp>
      <p:sp>
        <p:nvSpPr>
          <p:cNvPr id="16" name="Text 14"/>
          <p:cNvSpPr/>
          <p:nvPr/>
        </p:nvSpPr>
        <p:spPr>
          <a:xfrm>
            <a:off x="640080" y="6035040"/>
            <a:ext cx="1088136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problems below are real, but they are problems of interpretation and calibration — not of workmanship.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FUNDAMENTAL · THE CRUX</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The headline validation is largely circular</a:t>
            </a:r>
            <a:endParaRPr lang="en-US" sz="3400" dirty="0"/>
          </a:p>
        </p:txBody>
      </p:sp>
      <p:sp>
        <p:nvSpPr>
          <p:cNvPr id="4" name="Shape 2"/>
          <p:cNvSpPr/>
          <p:nvPr/>
        </p:nvSpPr>
        <p:spPr>
          <a:xfrm>
            <a:off x="640080" y="1371600"/>
            <a:ext cx="10881360" cy="1371600"/>
          </a:xfrm>
          <a:prstGeom prst="roundRect">
            <a:avLst>
              <a:gd name="adj" fmla="val 5333"/>
            </a:avLst>
          </a:prstGeom>
          <a:solidFill>
            <a:srgbClr val="FFEBEE"/>
          </a:solidFill>
          <a:ln w="12700">
            <a:solidFill>
              <a:srgbClr val="FFEBEE"/>
            </a:solidFill>
            <a:prstDash val="solid"/>
          </a:ln>
        </p:spPr>
      </p:sp>
      <p:sp>
        <p:nvSpPr>
          <p:cNvPr id="5" name="Text 3"/>
          <p:cNvSpPr/>
          <p:nvPr/>
        </p:nvSpPr>
        <p:spPr>
          <a:xfrm>
            <a:off x="868680" y="1536192"/>
            <a:ext cx="10424160" cy="1097280"/>
          </a:xfrm>
          <a:prstGeom prst="rect">
            <a:avLst/>
          </a:prstGeom>
          <a:noFill/>
          <a:ln/>
        </p:spPr>
        <p:txBody>
          <a:bodyPr wrap="square" lIns="0" tIns="0" rIns="0" bIns="0" rtlCol="0" anchor="ctr"/>
          <a:lstStyle/>
          <a:p>
            <a:pPr indent="0" marL="0">
              <a:buNone/>
            </a:pPr>
            <a:r>
              <a:rPr lang="en-US" sz="1500" dirty="0">
                <a:solidFill>
                  <a:srgbClr val="8E1B1B"/>
                </a:solidFill>
                <a:latin typeface="Calibri" pitchFamily="34" charset="0"/>
                <a:ea typeface="Calibri" pitchFamily="34" charset="-122"/>
                <a:cs typeface="Calibri" pitchFamily="34" charset="-120"/>
              </a:rPr>
              <a:t>The claim: “the measured wild-type value sits at a strain minimum for five parameters independently.”</a:t>
            </a:r>
            <a:endParaRPr lang="en-US" sz="1500" dirty="0"/>
          </a:p>
          <a:p>
            <a:pPr indent="0" marL="0">
              <a:buNone/>
            </a:pPr>
            <a:r>
              <a:rPr lang="en-US" sz="1500" dirty="0">
                <a:solidFill>
                  <a:srgbClr val="8E1B1B"/>
                </a:solidFill>
                <a:latin typeface="Calibri" pitchFamily="34" charset="0"/>
                <a:ea typeface="Calibri" pitchFamily="34" charset="-122"/>
                <a:cs typeface="Calibri" pitchFamily="34" charset="-120"/>
              </a:rPr>
              <a:t>The problem: the model's energy is the sum of bond gaps and deviations from rest angles — and those rest angles were themselves measured from the wild-type geometry.</a:t>
            </a:r>
            <a:endParaRPr lang="en-US" sz="1500" dirty="0"/>
          </a:p>
        </p:txBody>
      </p:sp>
      <p:sp>
        <p:nvSpPr>
          <p:cNvPr id="6" name="Text 4"/>
          <p:cNvSpPr/>
          <p:nvPr/>
        </p:nvSpPr>
        <p:spPr>
          <a:xfrm>
            <a:off x="640080" y="2926080"/>
            <a:ext cx="10881360" cy="365760"/>
          </a:xfrm>
          <a:prstGeom prst="rect">
            <a:avLst/>
          </a:prstGeom>
          <a:noFill/>
          <a:ln/>
        </p:spPr>
        <p:txBody>
          <a:bodyPr wrap="square"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Why that makes the minimum near-automatic</a:t>
            </a:r>
            <a:endParaRPr lang="en-US" sz="1700" dirty="0"/>
          </a:p>
        </p:txBody>
      </p:sp>
      <p:sp>
        <p:nvSpPr>
          <p:cNvPr id="7" name="Shape 5"/>
          <p:cNvSpPr/>
          <p:nvPr/>
        </p:nvSpPr>
        <p:spPr>
          <a:xfrm>
            <a:off x="640080" y="3383280"/>
            <a:ext cx="365760" cy="365760"/>
          </a:xfrm>
          <a:prstGeom prst="ellipse">
            <a:avLst/>
          </a:prstGeom>
          <a:solidFill>
            <a:srgbClr val="C62828"/>
          </a:solidFill>
          <a:ln w="12700">
            <a:solidFill>
              <a:srgbClr val="C62828"/>
            </a:solidFill>
            <a:prstDash val="solid"/>
          </a:ln>
        </p:spPr>
      </p:sp>
      <p:sp>
        <p:nvSpPr>
          <p:cNvPr id="8" name="Text 6"/>
          <p:cNvSpPr/>
          <p:nvPr/>
        </p:nvSpPr>
        <p:spPr>
          <a:xfrm>
            <a:off x="640080" y="3383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170432" y="3346704"/>
            <a:ext cx="10332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At the measured configuration, every angle deviation is zero by definition.</a:t>
            </a:r>
            <a:endParaRPr lang="en-US" sz="1500" dirty="0"/>
          </a:p>
        </p:txBody>
      </p:sp>
      <p:sp>
        <p:nvSpPr>
          <p:cNvPr id="10" name="Text 8"/>
          <p:cNvSpPr/>
          <p:nvPr/>
        </p:nvSpPr>
        <p:spPr>
          <a:xfrm>
            <a:off x="1170432" y="3712464"/>
            <a:ext cx="1033272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energy is a sum of squares, so zero deviation with near-zero closure gap is its global minimum. Any departure can only raise it.</a:t>
            </a:r>
            <a:endParaRPr lang="en-US" sz="1400" dirty="0"/>
          </a:p>
        </p:txBody>
      </p:sp>
      <p:sp>
        <p:nvSpPr>
          <p:cNvPr id="11" name="Shape 9"/>
          <p:cNvSpPr/>
          <p:nvPr/>
        </p:nvSpPr>
        <p:spPr>
          <a:xfrm>
            <a:off x="640080" y="4343400"/>
            <a:ext cx="365760" cy="365760"/>
          </a:xfrm>
          <a:prstGeom prst="ellipse">
            <a:avLst/>
          </a:prstGeom>
          <a:solidFill>
            <a:srgbClr val="C62828"/>
          </a:solidFill>
          <a:ln w="12700">
            <a:solidFill>
              <a:srgbClr val="C62828"/>
            </a:solidFill>
            <a:prstDash val="solid"/>
          </a:ln>
        </p:spPr>
      </p:sp>
      <p:sp>
        <p:nvSpPr>
          <p:cNvPr id="12" name="Text 10"/>
          <p:cNvSpPr/>
          <p:nvPr/>
        </p:nvSpPr>
        <p:spPr>
          <a:xfrm>
            <a:off x="640080" y="43434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170432" y="4306824"/>
            <a:ext cx="10332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So “wild type is optimal” restates how the objective was defined.</a:t>
            </a:r>
            <a:endParaRPr lang="en-US" sz="1500" dirty="0"/>
          </a:p>
        </p:txBody>
      </p:sp>
      <p:sp>
        <p:nvSpPr>
          <p:cNvPr id="14" name="Text 12"/>
          <p:cNvSpPr/>
          <p:nvPr/>
        </p:nvSpPr>
        <p:spPr>
          <a:xfrm>
            <a:off x="1170432" y="4672584"/>
            <a:ext cx="1033272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It is not an independent prediction. A model built this way would place a minimum at whatever geometry it was calibrated on.</a:t>
            </a:r>
            <a:endParaRPr lang="en-US" sz="1400" dirty="0"/>
          </a:p>
        </p:txBody>
      </p:sp>
      <p:sp>
        <p:nvSpPr>
          <p:cNvPr id="15" name="Shape 13"/>
          <p:cNvSpPr/>
          <p:nvPr/>
        </p:nvSpPr>
        <p:spPr>
          <a:xfrm>
            <a:off x="640080" y="5349240"/>
            <a:ext cx="10881360" cy="1188720"/>
          </a:xfrm>
          <a:prstGeom prst="roundRect">
            <a:avLst>
              <a:gd name="adj" fmla="val 6154"/>
            </a:avLst>
          </a:prstGeom>
          <a:solidFill>
            <a:srgbClr val="E8F5E9"/>
          </a:solidFill>
          <a:ln w="12700">
            <a:solidFill>
              <a:srgbClr val="E8F5E9"/>
            </a:solidFill>
            <a:prstDash val="solid"/>
          </a:ln>
        </p:spPr>
      </p:sp>
      <p:sp>
        <p:nvSpPr>
          <p:cNvPr id="16" name="Text 14"/>
          <p:cNvSpPr/>
          <p:nvPr/>
        </p:nvSpPr>
        <p:spPr>
          <a:xfrm>
            <a:off x="868680" y="5486400"/>
            <a:ext cx="10424160" cy="960120"/>
          </a:xfrm>
          <a:prstGeom prst="rect">
            <a:avLst/>
          </a:prstGeom>
          <a:noFill/>
          <a:ln/>
        </p:spPr>
        <p:txBody>
          <a:bodyPr wrap="square" lIns="0" tIns="0" rIns="0" bIns="0" rtlCol="0" anchor="ctr"/>
          <a:lstStyle/>
          <a:p>
            <a:pPr indent="0" marL="0">
              <a:buNone/>
            </a:pPr>
            <a:r>
              <a:rPr lang="en-US" sz="1400" dirty="0">
                <a:solidFill>
                  <a:srgbClr val="1B5E20"/>
                </a:solidFill>
                <a:latin typeface="Calibri" pitchFamily="34" charset="0"/>
                <a:ea typeface="Calibri" pitchFamily="34" charset="-122"/>
                <a:cs typeface="Calibri" pitchFamily="34" charset="-120"/>
              </a:rPr>
              <a:t>What survives: two things are genuinely non-trivial. That a geometry measured from TWO units closes into a NINE-fold ring at all (to 0.022 nm) — though one parameter was fitted to help. And that the resulting diameter, 255 nm, matches the ~250 nm measured independently. The diameter agreement is the real validation; the strain minima are largely bookkeeping.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FUNDAMENTAL</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Everything rests on one hand-drawn schematic</a:t>
            </a:r>
            <a:endParaRPr lang="en-US" sz="3400" dirty="0"/>
          </a:p>
        </p:txBody>
      </p:sp>
      <p:sp>
        <p:nvSpPr>
          <p:cNvPr id="4" name="Shape 2"/>
          <p:cNvSpPr/>
          <p:nvPr/>
        </p:nvSpPr>
        <p:spPr>
          <a:xfrm>
            <a:off x="640080" y="1417320"/>
            <a:ext cx="10881360" cy="1078992"/>
          </a:xfrm>
          <a:prstGeom prst="roundRect">
            <a:avLst>
              <a:gd name="adj" fmla="val 6780"/>
            </a:avLst>
          </a:prstGeom>
          <a:solidFill>
            <a:srgbClr val="F4F1F9"/>
          </a:solidFill>
          <a:ln w="12700">
            <a:solidFill>
              <a:srgbClr val="F4F1F9"/>
            </a:solidFill>
            <a:prstDash val="solid"/>
          </a:ln>
        </p:spPr>
      </p:sp>
      <p:sp>
        <p:nvSpPr>
          <p:cNvPr id="5" name="Shape 3"/>
          <p:cNvSpPr/>
          <p:nvPr/>
        </p:nvSpPr>
        <p:spPr>
          <a:xfrm>
            <a:off x="914400" y="1801368"/>
            <a:ext cx="310896" cy="310896"/>
          </a:xfrm>
          <a:prstGeom prst="ellipse">
            <a:avLst/>
          </a:prstGeom>
          <a:solidFill>
            <a:srgbClr val="C62828"/>
          </a:solidFill>
          <a:ln w="12700">
            <a:solidFill>
              <a:srgbClr val="C62828"/>
            </a:solidFill>
            <a:prstDash val="solid"/>
          </a:ln>
        </p:spPr>
      </p:sp>
      <p:sp>
        <p:nvSpPr>
          <p:cNvPr id="6" name="Text 4"/>
          <p:cNvSpPr/>
          <p:nvPr/>
        </p:nvSpPr>
        <p:spPr>
          <a:xfrm>
            <a:off x="1417320" y="1508760"/>
            <a:ext cx="3154680" cy="868680"/>
          </a:xfrm>
          <a:prstGeom prst="rect">
            <a:avLst/>
          </a:prstGeom>
          <a:noFill/>
          <a:ln/>
        </p:spPr>
        <p:txBody>
          <a:bodyPr wrap="square" lIns="0" tIns="0" rIns="0" bIns="0" rtlCol="0" anchor="ctr"/>
          <a:lstStyle/>
          <a:p>
            <a:pPr indent="0" marL="0">
              <a:buNone/>
            </a:pPr>
            <a:r>
              <a:rPr lang="en-US" sz="1600" b="1" dirty="0">
                <a:solidFill>
                  <a:srgbClr val="C62828"/>
                </a:solidFill>
                <a:latin typeface="Calibri" pitchFamily="34" charset="0"/>
                <a:ea typeface="Calibri" pitchFamily="34" charset="-122"/>
                <a:cs typeface="Calibri" pitchFamily="34" charset="-120"/>
              </a:rPr>
              <a:t>Sample size of one</a:t>
            </a:r>
            <a:endParaRPr lang="en-US" sz="1600" dirty="0"/>
          </a:p>
        </p:txBody>
      </p:sp>
      <p:sp>
        <p:nvSpPr>
          <p:cNvPr id="7" name="Text 5"/>
          <p:cNvSpPr/>
          <p:nvPr/>
        </p:nvSpPr>
        <p:spPr>
          <a:xfrm>
            <a:off x="4663440" y="1545336"/>
            <a:ext cx="6675120" cy="86868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All dimensions come from a single drawing of two units. There is no biological replicate, no error bar on any input, and no way to propagate uncertainty to the outputs.</a:t>
            </a:r>
            <a:endParaRPr lang="en-US" sz="1350" dirty="0"/>
          </a:p>
        </p:txBody>
      </p:sp>
      <p:sp>
        <p:nvSpPr>
          <p:cNvPr id="8" name="Shape 6"/>
          <p:cNvSpPr/>
          <p:nvPr/>
        </p:nvSpPr>
        <p:spPr>
          <a:xfrm>
            <a:off x="640080" y="2642616"/>
            <a:ext cx="10881360" cy="1078992"/>
          </a:xfrm>
          <a:prstGeom prst="roundRect">
            <a:avLst>
              <a:gd name="adj" fmla="val 6780"/>
            </a:avLst>
          </a:prstGeom>
          <a:solidFill>
            <a:srgbClr val="F4F1F9"/>
          </a:solidFill>
          <a:ln w="12700">
            <a:solidFill>
              <a:srgbClr val="F4F1F9"/>
            </a:solidFill>
            <a:prstDash val="solid"/>
          </a:ln>
        </p:spPr>
      </p:sp>
      <p:sp>
        <p:nvSpPr>
          <p:cNvPr id="9" name="Shape 7"/>
          <p:cNvSpPr/>
          <p:nvPr/>
        </p:nvSpPr>
        <p:spPr>
          <a:xfrm>
            <a:off x="914400" y="3026664"/>
            <a:ext cx="310896" cy="310896"/>
          </a:xfrm>
          <a:prstGeom prst="ellipse">
            <a:avLst/>
          </a:prstGeom>
          <a:solidFill>
            <a:srgbClr val="C62828"/>
          </a:solidFill>
          <a:ln w="12700">
            <a:solidFill>
              <a:srgbClr val="C62828"/>
            </a:solidFill>
            <a:prstDash val="solid"/>
          </a:ln>
        </p:spPr>
      </p:sp>
      <p:sp>
        <p:nvSpPr>
          <p:cNvPr id="10" name="Text 8"/>
          <p:cNvSpPr/>
          <p:nvPr/>
        </p:nvSpPr>
        <p:spPr>
          <a:xfrm>
            <a:off x="1417320" y="2734056"/>
            <a:ext cx="3154680" cy="868680"/>
          </a:xfrm>
          <a:prstGeom prst="rect">
            <a:avLst/>
          </a:prstGeom>
          <a:noFill/>
          <a:ln/>
        </p:spPr>
        <p:txBody>
          <a:bodyPr wrap="square" lIns="0" tIns="0" rIns="0" bIns="0" rtlCol="0" anchor="ctr"/>
          <a:lstStyle/>
          <a:p>
            <a:pPr indent="0" marL="0">
              <a:buNone/>
            </a:pPr>
            <a:r>
              <a:rPr lang="en-US" sz="1600" b="1" dirty="0">
                <a:solidFill>
                  <a:srgbClr val="C62828"/>
                </a:solidFill>
                <a:latin typeface="Calibri" pitchFamily="34" charset="0"/>
                <a:ea typeface="Calibri" pitchFamily="34" charset="-122"/>
                <a:cs typeface="Calibri" pitchFamily="34" charset="-120"/>
              </a:rPr>
              <a:t>The source contradicts itself</a:t>
            </a:r>
            <a:endParaRPr lang="en-US" sz="1600" dirty="0"/>
          </a:p>
        </p:txBody>
      </p:sp>
      <p:sp>
        <p:nvSpPr>
          <p:cNvPr id="11" name="Text 9"/>
          <p:cNvSpPr/>
          <p:nvPr/>
        </p:nvSpPr>
        <p:spPr>
          <a:xfrm>
            <a:off x="4663440" y="2770632"/>
            <a:ext cx="6675120" cy="86868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The schematic's two triplets sit 41.4° apart while its two spokes sit exactly 40° apart. A 9-fold structure cannot be both. The model resolves this by enforcing exact symmetry and absorbing the discrepancy elsewhere.</a:t>
            </a:r>
            <a:endParaRPr lang="en-US" sz="1350" dirty="0"/>
          </a:p>
        </p:txBody>
      </p:sp>
      <p:sp>
        <p:nvSpPr>
          <p:cNvPr id="12" name="Shape 10"/>
          <p:cNvSpPr/>
          <p:nvPr/>
        </p:nvSpPr>
        <p:spPr>
          <a:xfrm>
            <a:off x="640080" y="3867912"/>
            <a:ext cx="10881360" cy="1078992"/>
          </a:xfrm>
          <a:prstGeom prst="roundRect">
            <a:avLst>
              <a:gd name="adj" fmla="val 6780"/>
            </a:avLst>
          </a:prstGeom>
          <a:solidFill>
            <a:srgbClr val="F4F1F9"/>
          </a:solidFill>
          <a:ln w="12700">
            <a:solidFill>
              <a:srgbClr val="F4F1F9"/>
            </a:solidFill>
            <a:prstDash val="solid"/>
          </a:ln>
        </p:spPr>
      </p:sp>
      <p:sp>
        <p:nvSpPr>
          <p:cNvPr id="13" name="Shape 11"/>
          <p:cNvSpPr/>
          <p:nvPr/>
        </p:nvSpPr>
        <p:spPr>
          <a:xfrm>
            <a:off x="914400" y="4251960"/>
            <a:ext cx="310896" cy="310896"/>
          </a:xfrm>
          <a:prstGeom prst="ellipse">
            <a:avLst/>
          </a:prstGeom>
          <a:solidFill>
            <a:srgbClr val="D97706"/>
          </a:solidFill>
          <a:ln w="12700">
            <a:solidFill>
              <a:srgbClr val="D97706"/>
            </a:solidFill>
            <a:prstDash val="solid"/>
          </a:ln>
        </p:spPr>
      </p:sp>
      <p:sp>
        <p:nvSpPr>
          <p:cNvPr id="14" name="Text 12"/>
          <p:cNvSpPr/>
          <p:nvPr/>
        </p:nvSpPr>
        <p:spPr>
          <a:xfrm>
            <a:off x="1417320" y="3959352"/>
            <a:ext cx="3154680" cy="86868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Reading noise sets the floor</a:t>
            </a:r>
            <a:endParaRPr lang="en-US" sz="1600" dirty="0"/>
          </a:p>
        </p:txBody>
      </p:sp>
      <p:sp>
        <p:nvSpPr>
          <p:cNvPr id="15" name="Text 13"/>
          <p:cNvSpPr/>
          <p:nvPr/>
        </p:nvSpPr>
        <p:spPr>
          <a:xfrm>
            <a:off x="4663440" y="3995928"/>
            <a:ext cx="6675120" cy="86868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Protofilament positions were recovered from text-label anchors, carrying ~2° (~0.4 nm) of error. Numbers are reported to 0.01 nm — three orders of magnitude finer than the calibration supports.</a:t>
            </a:r>
            <a:endParaRPr lang="en-US" sz="1350" dirty="0"/>
          </a:p>
        </p:txBody>
      </p:sp>
      <p:sp>
        <p:nvSpPr>
          <p:cNvPr id="16" name="Shape 14"/>
          <p:cNvSpPr/>
          <p:nvPr/>
        </p:nvSpPr>
        <p:spPr>
          <a:xfrm>
            <a:off x="640080" y="5093208"/>
            <a:ext cx="10881360" cy="1078992"/>
          </a:xfrm>
          <a:prstGeom prst="roundRect">
            <a:avLst>
              <a:gd name="adj" fmla="val 6780"/>
            </a:avLst>
          </a:prstGeom>
          <a:solidFill>
            <a:srgbClr val="F4F1F9"/>
          </a:solidFill>
          <a:ln w="12700">
            <a:solidFill>
              <a:srgbClr val="F4F1F9"/>
            </a:solidFill>
            <a:prstDash val="solid"/>
          </a:ln>
        </p:spPr>
      </p:sp>
      <p:sp>
        <p:nvSpPr>
          <p:cNvPr id="17" name="Shape 15"/>
          <p:cNvSpPr/>
          <p:nvPr/>
        </p:nvSpPr>
        <p:spPr>
          <a:xfrm>
            <a:off x="914400" y="5477256"/>
            <a:ext cx="310896" cy="310896"/>
          </a:xfrm>
          <a:prstGeom prst="ellipse">
            <a:avLst/>
          </a:prstGeom>
          <a:solidFill>
            <a:srgbClr val="D97706"/>
          </a:solidFill>
          <a:ln w="12700">
            <a:solidFill>
              <a:srgbClr val="D97706"/>
            </a:solidFill>
            <a:prstDash val="solid"/>
          </a:ln>
        </p:spPr>
      </p:sp>
      <p:sp>
        <p:nvSpPr>
          <p:cNvPr id="18" name="Text 16"/>
          <p:cNvSpPr/>
          <p:nvPr/>
        </p:nvSpPr>
        <p:spPr>
          <a:xfrm>
            <a:off x="1417320" y="5184648"/>
            <a:ext cx="3154680" cy="86868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One input is fitted, not measured</a:t>
            </a:r>
            <a:endParaRPr lang="en-US" sz="1600" dirty="0"/>
          </a:p>
        </p:txBody>
      </p:sp>
      <p:sp>
        <p:nvSpPr>
          <p:cNvPr id="19" name="Text 17"/>
          <p:cNvSpPr/>
          <p:nvPr/>
        </p:nvSpPr>
        <p:spPr>
          <a:xfrm>
            <a:off x="4663440" y="5221224"/>
            <a:ext cx="6675120" cy="86868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The SAS-6 head-head spacing cannot be read off the drawing and is tuned so wild type closes. That is the same parameter the closure validation then relies 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FUNDAMENTAL</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It is one flat slice of a helical object</a:t>
            </a:r>
            <a:endParaRPr lang="en-US" sz="3400" dirty="0"/>
          </a:p>
        </p:txBody>
      </p:sp>
      <p:sp>
        <p:nvSpPr>
          <p:cNvPr id="4" name="Text 2"/>
          <p:cNvSpPr/>
          <p:nvPr/>
        </p:nvSpPr>
        <p:spPr>
          <a:xfrm>
            <a:off x="640080" y="1325880"/>
            <a:ext cx="10881360" cy="64008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centriole twists along its length. A single cross-section cannot represent that, and the consequence is not hypothetical — it already blocked a real investigation.</a:t>
            </a:r>
            <a:endParaRPr lang="en-US" sz="1600" dirty="0"/>
          </a:p>
        </p:txBody>
      </p:sp>
      <p:sp>
        <p:nvSpPr>
          <p:cNvPr id="5" name="Shape 3"/>
          <p:cNvSpPr/>
          <p:nvPr/>
        </p:nvSpPr>
        <p:spPr>
          <a:xfrm>
            <a:off x="640080" y="2148840"/>
            <a:ext cx="10881360" cy="1828800"/>
          </a:xfrm>
          <a:prstGeom prst="roundRect">
            <a:avLst>
              <a:gd name="adj" fmla="val 4000"/>
            </a:avLst>
          </a:prstGeom>
          <a:solidFill>
            <a:srgbClr val="FFEBEE"/>
          </a:solidFill>
          <a:ln w="12700">
            <a:solidFill>
              <a:srgbClr val="FFEBEE"/>
            </a:solidFill>
            <a:prstDash val="solid"/>
          </a:ln>
        </p:spPr>
      </p:sp>
      <p:sp>
        <p:nvSpPr>
          <p:cNvPr id="6" name="Text 4"/>
          <p:cNvSpPr/>
          <p:nvPr/>
        </p:nvSpPr>
        <p:spPr>
          <a:xfrm>
            <a:off x="914400" y="2331720"/>
            <a:ext cx="10332720" cy="365760"/>
          </a:xfrm>
          <a:prstGeom prst="rect">
            <a:avLst/>
          </a:prstGeom>
          <a:noFill/>
          <a:ln/>
        </p:spPr>
        <p:txBody>
          <a:bodyPr wrap="square" lIns="0" tIns="0" rIns="0" bIns="0" rtlCol="0" anchor="ctr"/>
          <a:lstStyle/>
          <a:p>
            <a:pPr indent="0" marL="0">
              <a:buNone/>
            </a:pPr>
            <a:r>
              <a:rPr lang="en-US" sz="1800" b="1" dirty="0">
                <a:solidFill>
                  <a:srgbClr val="8E1B1B"/>
                </a:solidFill>
                <a:latin typeface="Cambria" pitchFamily="34" charset="0"/>
                <a:ea typeface="Cambria" pitchFamily="34" charset="-122"/>
                <a:cs typeface="Cambria" pitchFamily="34" charset="-120"/>
              </a:rPr>
              <a:t>Worked example: the blooming question</a:t>
            </a:r>
            <a:endParaRPr lang="en-US" sz="1800" dirty="0"/>
          </a:p>
        </p:txBody>
      </p:sp>
      <p:sp>
        <p:nvSpPr>
          <p:cNvPr id="7" name="Text 5"/>
          <p:cNvSpPr/>
          <p:nvPr/>
        </p:nvSpPr>
        <p:spPr>
          <a:xfrm>
            <a:off x="914400" y="2788920"/>
            <a:ext cx="10332720" cy="10972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A published iris-like motion is described as arising from A-C linker twist in the LONGITUDINAL direction. The model was run and returned a confident negative — no in-plane iris mode exists. That answer is irrelevant to the claim, because the claim is about a motion the model cannot represent. The investigation was parked for exactly this reason.</a:t>
            </a:r>
            <a:endParaRPr lang="en-US" sz="1450" dirty="0"/>
          </a:p>
        </p:txBody>
      </p:sp>
      <p:sp>
        <p:nvSpPr>
          <p:cNvPr id="8" name="Text 6"/>
          <p:cNvSpPr/>
          <p:nvPr/>
        </p:nvSpPr>
        <p:spPr>
          <a:xfrm>
            <a:off x="640080" y="4160520"/>
            <a:ext cx="10881360" cy="365760"/>
          </a:xfrm>
          <a:prstGeom prst="rect">
            <a:avLst/>
          </a:prstGeom>
          <a:noFill/>
          <a:ln/>
        </p:spPr>
        <p:txBody>
          <a:bodyPr wrap="square"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The general risk</a:t>
            </a:r>
            <a:endParaRPr lang="en-US" sz="1700" dirty="0"/>
          </a:p>
        </p:txBody>
      </p:sp>
      <p:sp>
        <p:nvSpPr>
          <p:cNvPr id="9" name="Text 7"/>
          <p:cNvSpPr/>
          <p:nvPr/>
        </p:nvSpPr>
        <p:spPr>
          <a:xfrm>
            <a:off x="640080" y="4572000"/>
            <a:ext cx="10881360" cy="91440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A 2D model still returns a confident-looking number when asked a 3D question. Nothing in the output flags that the question was out of scope. Any result about twist, axial gradients, procentriole elongation or stacked cartwheel layers should be treated as unanswerable rather than answered.</a:t>
            </a:r>
            <a:endParaRPr lang="en-US" sz="1500" dirty="0"/>
          </a:p>
        </p:txBody>
      </p:sp>
      <p:sp>
        <p:nvSpPr>
          <p:cNvPr id="10" name="Text 8"/>
          <p:cNvSpPr/>
          <p:nvPr/>
        </p:nvSpPr>
        <p:spPr>
          <a:xfrm>
            <a:off x="640080" y="5669280"/>
            <a:ext cx="1088136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Out-of-plane tilt also gives real interfaces accommodation the model lacks — so strain is probably overestimated.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SECOND TIER</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Fixable: the numbers behind the verdicts</a:t>
            </a:r>
            <a:endParaRPr lang="en-US" sz="3400" dirty="0"/>
          </a:p>
        </p:txBody>
      </p:sp>
      <p:sp>
        <p:nvSpPr>
          <p:cNvPr id="4" name="Shape 2"/>
          <p:cNvSpPr/>
          <p:nvPr/>
        </p:nvSpPr>
        <p:spPr>
          <a:xfrm>
            <a:off x="640080" y="1371600"/>
            <a:ext cx="10881360" cy="1078992"/>
          </a:xfrm>
          <a:prstGeom prst="roundRect">
            <a:avLst>
              <a:gd name="adj" fmla="val 6780"/>
            </a:avLst>
          </a:prstGeom>
          <a:solidFill>
            <a:srgbClr val="FFF8E1"/>
          </a:solidFill>
          <a:ln w="12700">
            <a:solidFill>
              <a:srgbClr val="FFF8E1"/>
            </a:solidFill>
            <a:prstDash val="solid"/>
          </a:ln>
        </p:spPr>
      </p:sp>
      <p:sp>
        <p:nvSpPr>
          <p:cNvPr id="5" name="Text 3"/>
          <p:cNvSpPr/>
          <p:nvPr/>
        </p:nvSpPr>
        <p:spPr>
          <a:xfrm>
            <a:off x="960120" y="1499616"/>
            <a:ext cx="10058400" cy="347472"/>
          </a:xfrm>
          <a:prstGeom prst="rect">
            <a:avLst/>
          </a:prstGeom>
          <a:noFill/>
          <a:ln/>
        </p:spPr>
        <p:txBody>
          <a:bodyPr wrap="square" lIns="0" tIns="0" rIns="0" bIns="0" rtlCol="0" anchor="ctr"/>
          <a:lstStyle/>
          <a:p>
            <a:pPr indent="0" marL="0">
              <a:buNone/>
            </a:pPr>
            <a:r>
              <a:rPr lang="en-US" sz="1700" b="1" dirty="0">
                <a:solidFill>
                  <a:srgbClr val="8A5A00"/>
                </a:solidFill>
                <a:latin typeface="Cambria" pitchFamily="34" charset="0"/>
                <a:ea typeface="Cambria" pitchFamily="34" charset="-122"/>
                <a:cs typeface="Cambria" pitchFamily="34" charset="-120"/>
              </a:rPr>
              <a:t>Joint thresholds are invented</a:t>
            </a:r>
            <a:endParaRPr lang="en-US" sz="1700" dirty="0"/>
          </a:p>
        </p:txBody>
      </p:sp>
      <p:sp>
        <p:nvSpPr>
          <p:cNvPr id="6" name="Text 4"/>
          <p:cNvSpPr/>
          <p:nvPr/>
        </p:nvSpPr>
        <p:spPr>
          <a:xfrm>
            <a:off x="960120" y="1883664"/>
            <a:ext cx="10058400" cy="5486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OK / HARD / SEVERE limits were reasoned, not measured. Tested: scaling all bands 0.5×–2× leaves the qualitative conclusion intact, but flips the spoke's label between OK and HARD. So the ranking is robust; the labels are not.</a:t>
            </a:r>
            <a:endParaRPr lang="en-US" sz="1250" dirty="0"/>
          </a:p>
        </p:txBody>
      </p:sp>
      <p:sp>
        <p:nvSpPr>
          <p:cNvPr id="7" name="Shape 5"/>
          <p:cNvSpPr/>
          <p:nvPr/>
        </p:nvSpPr>
        <p:spPr>
          <a:xfrm>
            <a:off x="640080" y="2578608"/>
            <a:ext cx="10881360" cy="1078992"/>
          </a:xfrm>
          <a:prstGeom prst="roundRect">
            <a:avLst>
              <a:gd name="adj" fmla="val 6780"/>
            </a:avLst>
          </a:prstGeom>
          <a:solidFill>
            <a:srgbClr val="FFF8E1"/>
          </a:solidFill>
          <a:ln w="12700">
            <a:solidFill>
              <a:srgbClr val="FFF8E1"/>
            </a:solidFill>
            <a:prstDash val="solid"/>
          </a:ln>
        </p:spPr>
      </p:sp>
      <p:sp>
        <p:nvSpPr>
          <p:cNvPr id="8" name="Text 6"/>
          <p:cNvSpPr/>
          <p:nvPr/>
        </p:nvSpPr>
        <p:spPr>
          <a:xfrm>
            <a:off x="960120" y="2706624"/>
            <a:ext cx="10058400" cy="347472"/>
          </a:xfrm>
          <a:prstGeom prst="rect">
            <a:avLst/>
          </a:prstGeom>
          <a:noFill/>
          <a:ln/>
        </p:spPr>
        <p:txBody>
          <a:bodyPr wrap="square" lIns="0" tIns="0" rIns="0" bIns="0" rtlCol="0" anchor="ctr"/>
          <a:lstStyle/>
          <a:p>
            <a:pPr indent="0" marL="0">
              <a:buNone/>
            </a:pPr>
            <a:r>
              <a:rPr lang="en-US" sz="1700" b="1" dirty="0">
                <a:solidFill>
                  <a:srgbClr val="8A5A00"/>
                </a:solidFill>
                <a:latin typeface="Cambria" pitchFamily="34" charset="0"/>
                <a:ea typeface="Cambria" pitchFamily="34" charset="-122"/>
                <a:cs typeface="Cambria" pitchFamily="34" charset="-120"/>
              </a:rPr>
              <a:t>Bond strengths are ordinal</a:t>
            </a:r>
            <a:endParaRPr lang="en-US" sz="1700" dirty="0"/>
          </a:p>
        </p:txBody>
      </p:sp>
      <p:sp>
        <p:nvSpPr>
          <p:cNvPr id="9" name="Text 7"/>
          <p:cNvSpPr/>
          <p:nvPr/>
        </p:nvSpPr>
        <p:spPr>
          <a:xfrm>
            <a:off x="960120" y="3090672"/>
            <a:ext cx="10058400" cy="5486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Six bonds carry values from 1.00 to 0.25 encoding only a rank order. The model then reports a specific “closest to rupture” bond and a numeric load. That precision is not supported by the input — only the ordering is.</a:t>
            </a:r>
            <a:endParaRPr lang="en-US" sz="1250" dirty="0"/>
          </a:p>
        </p:txBody>
      </p:sp>
      <p:sp>
        <p:nvSpPr>
          <p:cNvPr id="10" name="Shape 8"/>
          <p:cNvSpPr/>
          <p:nvPr/>
        </p:nvSpPr>
        <p:spPr>
          <a:xfrm>
            <a:off x="640080" y="3785616"/>
            <a:ext cx="10881360" cy="1078992"/>
          </a:xfrm>
          <a:prstGeom prst="roundRect">
            <a:avLst>
              <a:gd name="adj" fmla="val 6780"/>
            </a:avLst>
          </a:prstGeom>
          <a:solidFill>
            <a:srgbClr val="FFF8E1"/>
          </a:solidFill>
          <a:ln w="12700">
            <a:solidFill>
              <a:srgbClr val="FFF8E1"/>
            </a:solidFill>
            <a:prstDash val="solid"/>
          </a:ln>
        </p:spPr>
      </p:sp>
      <p:sp>
        <p:nvSpPr>
          <p:cNvPr id="11" name="Text 9"/>
          <p:cNvSpPr/>
          <p:nvPr/>
        </p:nvSpPr>
        <p:spPr>
          <a:xfrm>
            <a:off x="960120" y="3913632"/>
            <a:ext cx="10058400" cy="347472"/>
          </a:xfrm>
          <a:prstGeom prst="rect">
            <a:avLst/>
          </a:prstGeom>
          <a:noFill/>
          <a:ln/>
        </p:spPr>
        <p:txBody>
          <a:bodyPr wrap="square" lIns="0" tIns="0" rIns="0" bIns="0" rtlCol="0" anchor="ctr"/>
          <a:lstStyle/>
          <a:p>
            <a:pPr indent="0" marL="0">
              <a:buNone/>
            </a:pPr>
            <a:r>
              <a:rPr lang="en-US" sz="1700" b="1" dirty="0">
                <a:solidFill>
                  <a:srgbClr val="8A5A00"/>
                </a:solidFill>
                <a:latin typeface="Cambria" pitchFamily="34" charset="0"/>
                <a:ea typeface="Cambria" pitchFamily="34" charset="-122"/>
                <a:cs typeface="Cambria" pitchFamily="34" charset="-120"/>
              </a:rPr>
              <a:t>No absolute energy scale</a:t>
            </a:r>
            <a:endParaRPr lang="en-US" sz="1700" dirty="0"/>
          </a:p>
        </p:txBody>
      </p:sp>
      <p:sp>
        <p:nvSpPr>
          <p:cNvPr id="12" name="Text 10"/>
          <p:cNvSpPr/>
          <p:nvPr/>
        </p:nvSpPr>
        <p:spPr>
          <a:xfrm>
            <a:off x="960120" y="4297680"/>
            <a:ext cx="10058400" cy="5486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Without bond energies in kT, nothing converts to a predicted fluctuation amplitude comparable with data. This is exactly what made the soft-mode analysis uninterpretable and led to it being abandoned.</a:t>
            </a:r>
            <a:endParaRPr lang="en-US" sz="1250" dirty="0"/>
          </a:p>
        </p:txBody>
      </p:sp>
      <p:sp>
        <p:nvSpPr>
          <p:cNvPr id="13" name="Shape 11"/>
          <p:cNvSpPr/>
          <p:nvPr/>
        </p:nvSpPr>
        <p:spPr>
          <a:xfrm>
            <a:off x="640080" y="4992624"/>
            <a:ext cx="10881360" cy="1078992"/>
          </a:xfrm>
          <a:prstGeom prst="roundRect">
            <a:avLst>
              <a:gd name="adj" fmla="val 6780"/>
            </a:avLst>
          </a:prstGeom>
          <a:solidFill>
            <a:srgbClr val="FFF8E1"/>
          </a:solidFill>
          <a:ln w="12700">
            <a:solidFill>
              <a:srgbClr val="FFF8E1"/>
            </a:solidFill>
            <a:prstDash val="solid"/>
          </a:ln>
        </p:spPr>
      </p:sp>
      <p:sp>
        <p:nvSpPr>
          <p:cNvPr id="14" name="Text 12"/>
          <p:cNvSpPr/>
          <p:nvPr/>
        </p:nvSpPr>
        <p:spPr>
          <a:xfrm>
            <a:off x="960120" y="5120640"/>
            <a:ext cx="10058400" cy="347472"/>
          </a:xfrm>
          <a:prstGeom prst="rect">
            <a:avLst/>
          </a:prstGeom>
          <a:noFill/>
          <a:ln/>
        </p:spPr>
        <p:txBody>
          <a:bodyPr wrap="square" lIns="0" tIns="0" rIns="0" bIns="0" rtlCol="0" anchor="ctr"/>
          <a:lstStyle/>
          <a:p>
            <a:pPr indent="0" marL="0">
              <a:buNone/>
            </a:pPr>
            <a:r>
              <a:rPr lang="en-US" sz="1700" b="1" dirty="0">
                <a:solidFill>
                  <a:srgbClr val="8A5A00"/>
                </a:solidFill>
                <a:latin typeface="Cambria" pitchFamily="34" charset="0"/>
                <a:ea typeface="Cambria" pitchFamily="34" charset="-122"/>
                <a:cs typeface="Cambria" pitchFamily="34" charset="-120"/>
              </a:rPr>
              <a:t>Strand thickness is assumed</a:t>
            </a:r>
            <a:endParaRPr lang="en-US" sz="1700" dirty="0"/>
          </a:p>
        </p:txBody>
      </p:sp>
      <p:sp>
        <p:nvSpPr>
          <p:cNvPr id="15" name="Text 13"/>
          <p:cNvSpPr/>
          <p:nvPr/>
        </p:nvSpPr>
        <p:spPr>
          <a:xfrm>
            <a:off x="960120" y="5504688"/>
            <a:ext cx="10058400" cy="5486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Clearance and the steric term count a 1 nm strand half-width that was never measured — deliberately not fitted, since tuning it to match a mutant diameter would make the result restate the input. Any clearance within a few tenths of zero is therefore marginal. The companion reachability test needs no such number and is the firmer of the two.</a:t>
            </a:r>
            <a:endParaRPr lang="en-US" sz="1250" dirty="0"/>
          </a:p>
        </p:txBody>
      </p:sp>
      <p:sp>
        <p:nvSpPr>
          <p:cNvPr id="16" name="Text 14"/>
          <p:cNvSpPr/>
          <p:nvPr/>
        </p:nvSpPr>
        <p:spPr>
          <a:xfrm>
            <a:off x="640080" y="6263640"/>
            <a:ext cx="1088136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 band_sensitivity() helper exists and should be run on any conclusion before it is reported.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SECOND TIER</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Fixable: the solver is not dependable at the edges</a:t>
            </a:r>
            <a:endParaRPr lang="en-US" sz="3400" dirty="0"/>
          </a:p>
        </p:txBody>
      </p:sp>
      <p:sp>
        <p:nvSpPr>
          <p:cNvPr id="4" name="Text 2"/>
          <p:cNvSpPr/>
          <p:nvPr/>
        </p:nvSpPr>
        <p:spPr>
          <a:xfrm>
            <a:off x="640080" y="1298448"/>
            <a:ext cx="10881360" cy="502920"/>
          </a:xfrm>
          <a:prstGeom prst="rect">
            <a:avLst/>
          </a:prstGeom>
          <a:noFill/>
          <a:ln/>
        </p:spPr>
        <p:txBody>
          <a:bodyPr wrap="square" rtlCol="0" anchor="ctr"/>
          <a:lstStyle/>
          <a:p>
            <a:pPr indent="0" marL="0">
              <a:buNone/>
            </a:pPr>
            <a:r>
              <a:rPr lang="en-US" sz="1450" dirty="0">
                <a:solidFill>
                  <a:srgbClr val="6B7280"/>
                </a:solidFill>
                <a:latin typeface="Calibri" pitchFamily="34" charset="0"/>
                <a:ea typeface="Calibri" pitchFamily="34" charset="-122"/>
                <a:cs typeface="Calibri" pitchFamily="34" charset="-120"/>
              </a:rPr>
              <a:t>Timings are no longer the problem — the chain solver and a vectorised steric test brought every configuration under three seconds. What remains is that robustness had to be added, not designed in:</a:t>
            </a:r>
            <a:endParaRPr lang="en-US" sz="1450" dirty="0"/>
          </a:p>
        </p:txBody>
      </p:sp>
      <p:graphicFrame>
        <p:nvGraphicFramePr>
          <p:cNvPr id="5" name="Chart 0" descr=""/>
          <p:cNvGraphicFramePr/>
          <p:nvPr/>
        </p:nvGraphicFramePr>
        <p:xfrm>
          <a:off x="640080" y="187452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035040" y="1828800"/>
            <a:ext cx="5486400" cy="347472"/>
          </a:xfrm>
          <a:prstGeom prst="rect">
            <a:avLst/>
          </a:prstGeom>
          <a:noFill/>
          <a:ln/>
        </p:spPr>
        <p:txBody>
          <a:bodyPr wrap="square" lIns="0" tIns="0" rIns="0" bIns="0" rtlCol="0" anchor="ctr"/>
          <a:lstStyle/>
          <a:p>
            <a:pPr indent="0" marL="0">
              <a:buNone/>
            </a:pPr>
            <a:r>
              <a:rPr lang="en-US" sz="1450" b="1" dirty="0">
                <a:solidFill>
                  <a:srgbClr val="C62828"/>
                </a:solidFill>
                <a:latin typeface="Calibri" pitchFamily="34" charset="0"/>
                <a:ea typeface="Calibri" pitchFamily="34" charset="-122"/>
                <a:cs typeface="Calibri" pitchFamily="34" charset="-120"/>
              </a:rPr>
              <a:t>A crash reachable from the interface</a:t>
            </a:r>
            <a:endParaRPr lang="en-US" sz="1450" dirty="0"/>
          </a:p>
        </p:txBody>
      </p:sp>
      <p:sp>
        <p:nvSpPr>
          <p:cNvPr id="7" name="Text 4"/>
          <p:cNvSpPr/>
          <p:nvPr/>
        </p:nvSpPr>
        <p:spPr>
          <a:xfrm>
            <a:off x="6035040" y="2157984"/>
            <a:ext cx="5486400" cy="82296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 singlet centriole at a shifted register made the trust-region step's dense factorisation fail outright. It now retries iteratively, but it was reachable by two clicks and nothing had caught it.</a:t>
            </a:r>
            <a:endParaRPr lang="en-US" sz="1250" dirty="0"/>
          </a:p>
        </p:txBody>
      </p:sp>
      <p:sp>
        <p:nvSpPr>
          <p:cNvPr id="8" name="Text 5"/>
          <p:cNvSpPr/>
          <p:nvPr/>
        </p:nvSpPr>
        <p:spPr>
          <a:xfrm>
            <a:off x="6035040" y="2999232"/>
            <a:ext cx="5486400" cy="347472"/>
          </a:xfrm>
          <a:prstGeom prst="rect">
            <a:avLst/>
          </a:prstGeom>
          <a:noFill/>
          <a:ln/>
        </p:spPr>
        <p:txBody>
          <a:bodyPr wrap="square" lIns="0" tIns="0" rIns="0" bIns="0" rtlCol="0" anchor="ctr"/>
          <a:lstStyle/>
          <a:p>
            <a:pPr indent="0" marL="0">
              <a:buNone/>
            </a:pPr>
            <a:r>
              <a:rPr lang="en-US" sz="1450" b="1" dirty="0">
                <a:solidFill>
                  <a:srgbClr val="C62828"/>
                </a:solidFill>
                <a:latin typeface="Calibri" pitchFamily="34" charset="0"/>
                <a:ea typeface="Calibri" pitchFamily="34" charset="-122"/>
                <a:cs typeface="Calibri" pitchFamily="34" charset="-120"/>
              </a:rPr>
              <a:t>An expectation was wrong, then the correction went stale too</a:t>
            </a:r>
            <a:endParaRPr lang="en-US" sz="1450" dirty="0"/>
          </a:p>
        </p:txBody>
      </p:sp>
      <p:sp>
        <p:nvSpPr>
          <p:cNvPr id="9" name="Text 6"/>
          <p:cNvSpPr/>
          <p:nvPr/>
        </p:nvSpPr>
        <p:spPr>
          <a:xfrm>
            <a:off x="6035040" y="3328416"/>
            <a:ext cx="5486400" cy="82296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Clashes were first predicted at extreme protofilament counts, then 'tested: zero clashes 9 through 18'. Under the current solver n_pf = 9 and 18 both clash again. The original expectation was right; the correction had simply been measured on a superseded architecture.</a:t>
            </a:r>
            <a:endParaRPr lang="en-US" sz="1250" dirty="0"/>
          </a:p>
        </p:txBody>
      </p:sp>
      <p:sp>
        <p:nvSpPr>
          <p:cNvPr id="10" name="Text 7"/>
          <p:cNvSpPr/>
          <p:nvPr/>
        </p:nvSpPr>
        <p:spPr>
          <a:xfrm>
            <a:off x="6035040" y="4169664"/>
            <a:ext cx="5486400" cy="347472"/>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Accuracy is still traded for responsiveness</a:t>
            </a:r>
            <a:endParaRPr lang="en-US" sz="1450" dirty="0"/>
          </a:p>
        </p:txBody>
      </p:sp>
      <p:sp>
        <p:nvSpPr>
          <p:cNvPr id="11" name="Text 8"/>
          <p:cNvSpPr/>
          <p:nvPr/>
        </p:nvSpPr>
        <p:spPr>
          <a:xfrm>
            <a:off x="6035040" y="4498848"/>
            <a:ext cx="5486400" cy="82296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Solver effort is capped in the interface so it cannot stall, so extreme configurations return lower-confidence answers by design.</a:t>
            </a:r>
            <a:endParaRPr lang="en-US" sz="1250" dirty="0"/>
          </a:p>
        </p:txBody>
      </p:sp>
      <p:sp>
        <p:nvSpPr>
          <p:cNvPr id="12" name="Text 9"/>
          <p:cNvSpPr/>
          <p:nvPr/>
        </p:nvSpPr>
        <p:spPr>
          <a:xfrm>
            <a:off x="640080" y="5120640"/>
            <a:ext cx="10881360" cy="457200"/>
          </a:xfrm>
          <a:prstGeom prst="rect">
            <a:avLst/>
          </a:prstGeom>
          <a:noFill/>
          <a:ln/>
        </p:spPr>
        <p:txBody>
          <a:bodyPr wrap="square" rtlCol="0" anchor="ctr"/>
          <a:lstStyle/>
          <a:p>
            <a:pPr indent="0" marL="0">
              <a:buNone/>
            </a:pPr>
            <a:r>
              <a:rPr lang="en-US" sz="1400" i="1" dirty="0">
                <a:solidFill>
                  <a:srgbClr val="C62828"/>
                </a:solidFill>
                <a:latin typeface="Calibri" pitchFamily="34" charset="0"/>
                <a:ea typeface="Calibri" pitchFamily="34" charset="-122"/>
                <a:cs typeface="Calibri" pitchFamily="34" charset="-120"/>
              </a:rPr>
              <a:t>The middle point is the one to sit with: a stated result survived an architecture change without being re-tested — and so did the correction that replaced it. Numbers in slides decay silently.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Case study: a result that was wrong for two years' worth of reasons</a:t>
            </a:r>
            <a:endParaRPr lang="en-US" sz="3400" dirty="0"/>
          </a:p>
        </p:txBody>
      </p:sp>
      <p:sp>
        <p:nvSpPr>
          <p:cNvPr id="4" name="Text 2"/>
          <p:cNvSpPr/>
          <p:nvPr/>
        </p:nvSpPr>
        <p:spPr>
          <a:xfrm>
            <a:off x="640080" y="1188720"/>
            <a:ext cx="10881360" cy="457200"/>
          </a:xfrm>
          <a:prstGeom prst="rect">
            <a:avLst/>
          </a:prstGeom>
          <a:noFill/>
          <a:ln/>
        </p:spPr>
        <p:txBody>
          <a:bodyPr wrap="square" rtlCol="0" anchor="ctr"/>
          <a:lstStyle/>
          <a:p>
            <a:pPr indent="0" marL="0">
              <a:buNone/>
            </a:pPr>
            <a:r>
              <a:rPr lang="en-US" sz="1450" dirty="0">
                <a:solidFill>
                  <a:srgbClr val="6B7280"/>
                </a:solidFill>
                <a:latin typeface="Calibri" pitchFamily="34" charset="0"/>
                <a:ea typeface="Calibri" pitchFamily="34" charset="-122"/>
                <a:cs typeface="Calibri" pitchFamily="34" charset="-120"/>
              </a:rPr>
              <a:t>The register search was used to argue a published-quality conclusion about a measured mutant. Two defects in it were found only when the drawing was questioned — not by any test.</a:t>
            </a:r>
            <a:endParaRPr lang="en-US" sz="1450" dirty="0"/>
          </a:p>
        </p:txBody>
      </p:sp>
      <p:sp>
        <p:nvSpPr>
          <p:cNvPr id="5" name="Shape 3"/>
          <p:cNvSpPr/>
          <p:nvPr/>
        </p:nvSpPr>
        <p:spPr>
          <a:xfrm>
            <a:off x="640080" y="1783080"/>
            <a:ext cx="10881360" cy="1325880"/>
          </a:xfrm>
          <a:prstGeom prst="roundRect">
            <a:avLst>
              <a:gd name="adj" fmla="val 5517"/>
            </a:avLst>
          </a:prstGeom>
          <a:solidFill>
            <a:srgbClr val="FFEBEE"/>
          </a:solidFill>
          <a:ln w="12700">
            <a:solidFill>
              <a:srgbClr val="FFEBEE"/>
            </a:solidFill>
            <a:prstDash val="solid"/>
          </a:ln>
        </p:spPr>
      </p:sp>
      <p:sp>
        <p:nvSpPr>
          <p:cNvPr id="6" name="Text 4"/>
          <p:cNvSpPr/>
          <p:nvPr/>
        </p:nvSpPr>
        <p:spPr>
          <a:xfrm>
            <a:off x="960120" y="1929384"/>
            <a:ext cx="10058400" cy="365760"/>
          </a:xfrm>
          <a:prstGeom prst="rect">
            <a:avLst/>
          </a:prstGeom>
          <a:noFill/>
          <a:ln/>
        </p:spPr>
        <p:txBody>
          <a:bodyPr wrap="square" lIns="0" tIns="0" rIns="0" bIns="0" rtlCol="0" anchor="ctr"/>
          <a:lstStyle/>
          <a:p>
            <a:pPr indent="0" marL="0">
              <a:buNone/>
            </a:pPr>
            <a:r>
              <a:rPr lang="en-US" sz="1600" b="1" dirty="0">
                <a:solidFill>
                  <a:srgbClr val="8E1B1B"/>
                </a:solidFill>
                <a:latin typeface="Cambria" pitchFamily="34" charset="0"/>
                <a:ea typeface="Cambria" pitchFamily="34" charset="-122"/>
                <a:cs typeface="Cambria" pitchFamily="34" charset="-120"/>
              </a:rPr>
              <a:t>Rest angles were not re-referenced when the register shifted</a:t>
            </a:r>
            <a:endParaRPr lang="en-US" sz="1600" dirty="0"/>
          </a:p>
        </p:txBody>
      </p:sp>
      <p:sp>
        <p:nvSpPr>
          <p:cNvPr id="7" name="Text 5"/>
          <p:cNvSpPr/>
          <p:nvPr/>
        </p:nvSpPr>
        <p:spPr>
          <a:xfrm>
            <a:off x="960120" y="2331720"/>
            <a:ext cx="10058400" cy="713232"/>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Contact rest orientations are measured in the tubule's own frame. Sliding a contact by one protofilament rotates the site by 360/13 = 27.7° in that frame, but the rest angle stayed put. Every shifted candidate was charged 27.7° of strain that did not exist — past the 20° HARD limit before anything moved. The ranking was bookkeeping.</a:t>
            </a:r>
            <a:endParaRPr lang="en-US" sz="1250" dirty="0"/>
          </a:p>
        </p:txBody>
      </p:sp>
      <p:sp>
        <p:nvSpPr>
          <p:cNvPr id="8" name="Shape 6"/>
          <p:cNvSpPr/>
          <p:nvPr/>
        </p:nvSpPr>
        <p:spPr>
          <a:xfrm>
            <a:off x="640080" y="3246120"/>
            <a:ext cx="10881360" cy="1325880"/>
          </a:xfrm>
          <a:prstGeom prst="roundRect">
            <a:avLst>
              <a:gd name="adj" fmla="val 5517"/>
            </a:avLst>
          </a:prstGeom>
          <a:solidFill>
            <a:srgbClr val="FFEBEE"/>
          </a:solidFill>
          <a:ln w="12700">
            <a:solidFill>
              <a:srgbClr val="FFEBEE"/>
            </a:solidFill>
            <a:prstDash val="solid"/>
          </a:ln>
        </p:spPr>
      </p:sp>
      <p:sp>
        <p:nvSpPr>
          <p:cNvPr id="9" name="Text 7"/>
          <p:cNvSpPr/>
          <p:nvPr/>
        </p:nvSpPr>
        <p:spPr>
          <a:xfrm>
            <a:off x="960120" y="3392424"/>
            <a:ext cx="10058400" cy="365760"/>
          </a:xfrm>
          <a:prstGeom prst="rect">
            <a:avLst/>
          </a:prstGeom>
          <a:noFill/>
          <a:ln/>
        </p:spPr>
        <p:txBody>
          <a:bodyPr wrap="square" lIns="0" tIns="0" rIns="0" bIns="0" rtlCol="0" anchor="ctr"/>
          <a:lstStyle/>
          <a:p>
            <a:pPr indent="0" marL="0">
              <a:buNone/>
            </a:pPr>
            <a:r>
              <a:rPr lang="en-US" sz="1600" b="1" dirty="0">
                <a:solidFill>
                  <a:srgbClr val="8E1B1B"/>
                </a:solidFill>
                <a:latin typeface="Cambria" pitchFamily="34" charset="0"/>
                <a:ea typeface="Cambria" pitchFamily="34" charset="-122"/>
                <a:cs typeface="Cambria" pitchFamily="34" charset="-120"/>
              </a:rPr>
              <a:t>Nothing stopped a strand lying inside a microtubule</a:t>
            </a:r>
            <a:endParaRPr lang="en-US" sz="1600" dirty="0"/>
          </a:p>
        </p:txBody>
      </p:sp>
      <p:sp>
        <p:nvSpPr>
          <p:cNvPr id="10" name="Text 8"/>
          <p:cNvSpPr/>
          <p:nvPr/>
        </p:nvSpPr>
        <p:spPr>
          <a:xfrm>
            <a:off x="960120" y="3794760"/>
            <a:ext cx="10058400" cy="713232"/>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Penetration was measured but never entered the objective, and the measurement itself discarded 3 nm from both ends of every segment — over half of an 11.6 nm linker arm, including exactly the stretch where a bad register shows. The search's winner reached its site 1.7° above tangential, straight along the tubule wall.</a:t>
            </a:r>
            <a:endParaRPr lang="en-US" sz="1250" dirty="0"/>
          </a:p>
        </p:txBody>
      </p:sp>
      <p:sp>
        <p:nvSpPr>
          <p:cNvPr id="11" name="Shape 9"/>
          <p:cNvSpPr/>
          <p:nvPr/>
        </p:nvSpPr>
        <p:spPr>
          <a:xfrm>
            <a:off x="640080" y="4709160"/>
            <a:ext cx="10881360" cy="1325880"/>
          </a:xfrm>
          <a:prstGeom prst="roundRect">
            <a:avLst>
              <a:gd name="adj" fmla="val 5517"/>
            </a:avLst>
          </a:prstGeom>
          <a:solidFill>
            <a:srgbClr val="FFF8E1"/>
          </a:solidFill>
          <a:ln w="12700">
            <a:solidFill>
              <a:srgbClr val="FFF8E1"/>
            </a:solidFill>
            <a:prstDash val="solid"/>
          </a:ln>
        </p:spPr>
      </p:sp>
      <p:sp>
        <p:nvSpPr>
          <p:cNvPr id="12" name="Text 10"/>
          <p:cNvSpPr/>
          <p:nvPr/>
        </p:nvSpPr>
        <p:spPr>
          <a:xfrm>
            <a:off x="960120" y="4855464"/>
            <a:ext cx="10058400" cy="365760"/>
          </a:xfrm>
          <a:prstGeom prst="rect">
            <a:avLst/>
          </a:prstGeom>
          <a:noFill/>
          <a:ln/>
        </p:spPr>
        <p:txBody>
          <a:bodyPr wrap="square" lIns="0" tIns="0" rIns="0" bIns="0" rtlCol="0" anchor="ctr"/>
          <a:lstStyle/>
          <a:p>
            <a:pPr indent="0" marL="0">
              <a:buNone/>
            </a:pPr>
            <a:r>
              <a:rPr lang="en-US" sz="1600" b="1" dirty="0">
                <a:solidFill>
                  <a:srgbClr val="8A5A00"/>
                </a:solidFill>
                <a:latin typeface="Cambria" pitchFamily="34" charset="0"/>
                <a:ea typeface="Cambria" pitchFamily="34" charset="-122"/>
                <a:cs typeface="Cambria" pitchFamily="34" charset="-120"/>
              </a:rPr>
              <a:t>What it cost</a:t>
            </a:r>
            <a:endParaRPr lang="en-US" sz="1600" dirty="0"/>
          </a:p>
        </p:txBody>
      </p:sp>
      <p:sp>
        <p:nvSpPr>
          <p:cNvPr id="13" name="Text 11"/>
          <p:cNvSpPr/>
          <p:nvPr/>
        </p:nvSpPr>
        <p:spPr>
          <a:xfrm>
            <a:off x="960120" y="5257800"/>
            <a:ext cx="10058400" cy="713232"/>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The register that reproduced the measured diameter, and the mechanism built on it, sits at or past the edge of what is geometrically reachable. The prediction in the project's own notes had to be withdrawn and rewritten.</a:t>
            </a:r>
            <a:endParaRPr lang="en-US" sz="1250" dirty="0"/>
          </a:p>
        </p:txBody>
      </p:sp>
      <p:sp>
        <p:nvSpPr>
          <p:cNvPr id="14" name="Text 12"/>
          <p:cNvSpPr/>
          <p:nvPr/>
        </p:nvSpPr>
        <p:spPr>
          <a:xfrm>
            <a:off x="640080" y="6263640"/>
            <a:ext cx="10881360" cy="411480"/>
          </a:xfrm>
          <a:prstGeom prst="rect">
            <a:avLst/>
          </a:prstGeom>
          <a:noFill/>
          <a:ln/>
        </p:spPr>
        <p:txBody>
          <a:bodyPr wrap="square" rtlCol="0" anchor="ctr"/>
          <a:lstStyle/>
          <a:p>
            <a:pPr indent="0" marL="0">
              <a:buNone/>
            </a:pPr>
            <a:r>
              <a:rPr lang="en-US" sz="1400" i="1" dirty="0">
                <a:solidFill>
                  <a:srgbClr val="C62828"/>
                </a:solidFill>
                <a:latin typeface="Calibri" pitchFamily="34" charset="0"/>
                <a:ea typeface="Calibri" pitchFamily="34" charset="-122"/>
                <a:cs typeface="Calibri" pitchFamily="34" charset="-120"/>
              </a:rPr>
              <a:t>Neither defect made anything crash, and neither showed up in any number the tool printed. They surfaced because a picture looked wrong. That is not a reliable detector.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10896"/>
            <a:ext cx="10881360" cy="274320"/>
          </a:xfrm>
          <a:prstGeom prst="rect">
            <a:avLst/>
          </a:prstGeom>
          <a:noFill/>
          <a:ln/>
        </p:spPr>
        <p:txBody>
          <a:bodyPr wrap="square" rtlCol="0" anchor="ctr"/>
          <a:lstStyle/>
          <a:p>
            <a:pPr indent="0" marL="0">
              <a:buNone/>
            </a:pPr>
            <a:r>
              <a:rPr lang="en-US" sz="1200" b="1" spc="200" kern="0" dirty="0">
                <a:solidFill>
                  <a:srgbClr val="6B3FA0"/>
                </a:solidFill>
                <a:latin typeface="Calibri" pitchFamily="34" charset="0"/>
                <a:ea typeface="Calibri" pitchFamily="34" charset="-122"/>
                <a:cs typeface="Calibri" pitchFamily="34" charset="-120"/>
              </a:rPr>
              <a:t>BEFORE PUBLICATION</a:t>
            </a:r>
            <a:endParaRPr lang="en-US" sz="1200" dirty="0"/>
          </a:p>
        </p:txBody>
      </p:sp>
      <p:sp>
        <p:nvSpPr>
          <p:cNvPr id="3" name="Text 1"/>
          <p:cNvSpPr/>
          <p:nvPr/>
        </p:nvSpPr>
        <p:spPr>
          <a:xfrm>
            <a:off x="640080" y="566928"/>
            <a:ext cx="1088136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What would have to change</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3383280"/>
                <a:gridCol w="6035040"/>
                <a:gridCol w="1463040"/>
              </a:tblGrid>
              <a:tr h="6583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Requirement</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solidFill>
                      <a:srgbClr val="C6282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 it is blocking</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solidFill>
                      <a:srgbClr val="C6282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Effort</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solidFill>
                      <a:srgbClr val="C62828"/>
                    </a:solidFill>
                  </a:tcPr>
                </a:tc>
              </a:tr>
              <a:tr h="658368">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Validate against data NOT used in calibration</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Removes the circularity. Predict a mutant or a species the model has never seen, then measure it.</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High</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r>
              <a:tr h="658368">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Calibrate joint bands on sub-tomogram variance</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Converts invented thresholds into measured ones; makes grades meaningful in absolute terms.</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Medium</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r>
              <a:tr h="658368">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Propagate input uncertainty to outputs</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Every number is currently a point estimate from one noisy drawing. Error bars are needed.</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Medium</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r>
              <a:tr h="658368">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Put bond strengths on an absolute scale</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Required before any force, rupture or fluctuation claim can be quantitative.</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High</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r>
              <a:tr h="658368">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State the scope boundary in the output</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So a 3D question cannot silently receive a 2D answer.</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c>
                  <a:txBody>
                    <a:bodyPr/>
                    <a:lstStyle/>
                    <a:p>
                      <a:pPr indent="0" marL="0">
                        <a:buNone/>
                      </a:pPr>
                      <a:r>
                        <a:rPr lang="en-US" sz="1350" dirty="0">
                          <a:solidFill>
                            <a:srgbClr val="000000"/>
                          </a:solidFill>
                          <a:latin typeface="Calibri" pitchFamily="34" charset="0"/>
                          <a:ea typeface="Calibri" pitchFamily="34" charset="-122"/>
                          <a:cs typeface="Calibri" pitchFamily="34" charset="-120"/>
                        </a:rPr>
                        <a:t>Low</a:t>
                      </a:r>
                      <a:endParaRPr lang="en-US" sz="1350" dirty="0">
                        <a:latin typeface="Calibri" charset="0"/>
                        <a:ea typeface="Calibri" charset="0"/>
                        <a:cs typeface="Calibri" charset="0"/>
                      </a:endParaRPr>
                    </a:p>
                  </a:txBody>
                  <a:tcPr marL="91440" marR="91440" marT="45720" marB="45720" anchor="ctr">
                    <a:lnL w="12700" cap="flat" cmpd="sng" algn="ctr">
                      <a:solidFill>
                        <a:srgbClr val="E3E0EC"/>
                      </a:solidFill>
                      <a:prstDash val="solid"/>
                      <a:round/>
                      <a:headEnd type="none" w="med" len="med"/>
                      <a:tailEnd type="none" w="med" len="med"/>
                    </a:lnL>
                    <a:lnR w="12700" cap="flat" cmpd="sng" algn="ctr">
                      <a:solidFill>
                        <a:srgbClr val="E3E0EC"/>
                      </a:solidFill>
                      <a:prstDash val="solid"/>
                      <a:round/>
                      <a:headEnd type="none" w="med" len="med"/>
                      <a:tailEnd type="none" w="med" len="med"/>
                    </a:lnR>
                    <a:lnT w="12700" cap="flat" cmpd="sng" algn="ctr">
                      <a:solidFill>
                        <a:srgbClr val="E3E0EC"/>
                      </a:solidFill>
                      <a:prstDash val="solid"/>
                      <a:round/>
                      <a:headEnd type="none" w="med" len="med"/>
                      <a:tailEnd type="none" w="med" len="med"/>
                    </a:lnT>
                    <a:lnB w="12700" cap="flat" cmpd="sng" algn="ctr">
                      <a:solidFill>
                        <a:srgbClr val="E3E0EC"/>
                      </a:solidFill>
                      <a:prstDash val="solid"/>
                      <a:round/>
                      <a:headEnd type="none" w="med" len="med"/>
                      <a:tailEnd type="none" w="med" len="med"/>
                    </a:lnB>
                  </a:tcPr>
                </a:tc>
              </a:tr>
            </a:tbl>
          </a:graphicData>
        </a:graphic>
      </p:graphicFrame>
      <p:sp>
        <p:nvSpPr>
          <p:cNvPr id="5" name="Text 2"/>
          <p:cNvSpPr/>
          <p:nvPr/>
        </p:nvSpPr>
        <p:spPr>
          <a:xfrm>
            <a:off x="640080" y="5852160"/>
            <a:ext cx="1088136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None of these invalidate the tool as a hypothesis generator. They are what stand between it and a quantitative claim.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035"/>
        </a:solidFill>
      </p:bgPr>
    </p:bg>
    <p:spTree>
      <p:nvGrpSpPr>
        <p:cNvPr id="1" name=""/>
        <p:cNvGrpSpPr/>
        <p:nvPr/>
      </p:nvGrpSpPr>
      <p:grpSpPr>
        <a:xfrm>
          <a:off x="0" y="0"/>
          <a:ext cx="0" cy="0"/>
          <a:chOff x="0" y="0"/>
          <a:chExt cx="0" cy="0"/>
        </a:xfrm>
      </p:grpSpPr>
      <p:sp>
        <p:nvSpPr>
          <p:cNvPr id="2" name="Text 0"/>
          <p:cNvSpPr/>
          <p:nvPr/>
        </p:nvSpPr>
        <p:spPr>
          <a:xfrm>
            <a:off x="822960" y="64008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can and cannot conclude today</a:t>
            </a:r>
            <a:endParaRPr lang="en-US" sz="3200" dirty="0"/>
          </a:p>
        </p:txBody>
      </p:sp>
      <p:sp>
        <p:nvSpPr>
          <p:cNvPr id="3" name="Shape 1"/>
          <p:cNvSpPr/>
          <p:nvPr/>
        </p:nvSpPr>
        <p:spPr>
          <a:xfrm>
            <a:off x="822960" y="1600200"/>
            <a:ext cx="5120640" cy="4023360"/>
          </a:xfrm>
          <a:prstGeom prst="roundRect">
            <a:avLst>
              <a:gd name="adj" fmla="val 1818"/>
            </a:avLst>
          </a:prstGeom>
          <a:solidFill>
            <a:srgbClr val="16351F"/>
          </a:solidFill>
          <a:ln w="12700">
            <a:solidFill>
              <a:srgbClr val="2E7D32"/>
            </a:solidFill>
            <a:prstDash val="solid"/>
          </a:ln>
        </p:spPr>
      </p:sp>
      <p:sp>
        <p:nvSpPr>
          <p:cNvPr id="4" name="Text 2"/>
          <p:cNvSpPr/>
          <p:nvPr/>
        </p:nvSpPr>
        <p:spPr>
          <a:xfrm>
            <a:off x="1097280" y="1783080"/>
            <a:ext cx="4572000" cy="365760"/>
          </a:xfrm>
          <a:prstGeom prst="rect">
            <a:avLst/>
          </a:prstGeom>
          <a:noFill/>
          <a:ln/>
        </p:spPr>
        <p:txBody>
          <a:bodyPr wrap="square" rtlCol="0" anchor="ctr"/>
          <a:lstStyle/>
          <a:p>
            <a:pPr indent="0" marL="0">
              <a:buNone/>
            </a:pPr>
            <a:r>
              <a:rPr lang="en-US" sz="1700" b="1" dirty="0">
                <a:solidFill>
                  <a:srgbClr val="7BC67B"/>
                </a:solidFill>
                <a:latin typeface="Calibri" pitchFamily="34" charset="0"/>
                <a:ea typeface="Calibri" pitchFamily="34" charset="-122"/>
                <a:cs typeface="Calibri" pitchFamily="34" charset="-120"/>
              </a:rPr>
              <a:t>SAFE</a:t>
            </a:r>
            <a:endParaRPr lang="en-US" sz="1700" dirty="0"/>
          </a:p>
        </p:txBody>
      </p:sp>
      <p:sp>
        <p:nvSpPr>
          <p:cNvPr id="5" name="Text 3"/>
          <p:cNvSpPr/>
          <p:nvPr/>
        </p:nvSpPr>
        <p:spPr>
          <a:xfrm>
            <a:off x="1097280" y="2240280"/>
            <a:ext cx="4572000" cy="3200400"/>
          </a:xfrm>
          <a:prstGeom prst="rect">
            <a:avLst/>
          </a:prstGeom>
          <a:noFill/>
          <a:ln/>
        </p:spPr>
        <p:txBody>
          <a:bodyPr wrap="square" rtlCol="0" anchor="ctr"/>
          <a:lstStyle/>
          <a:p>
            <a:pPr marL="342900" indent="-342900">
              <a:spcAft>
                <a:spcPts val="800"/>
              </a:spcAft>
              <a:buSzPct val="100000"/>
              <a:buChar char="•"/>
            </a:pPr>
            <a:r>
              <a:rPr lang="en-US" sz="1350" dirty="0">
                <a:solidFill>
                  <a:srgbClr val="D8E8D8"/>
                </a:solidFill>
                <a:latin typeface="Calibri" pitchFamily="34" charset="0"/>
                <a:ea typeface="Calibri" pitchFamily="34" charset="-122"/>
                <a:cs typeface="Calibri" pitchFamily="34" charset="-120"/>
              </a:rPr>
              <a:t>Relative comparisons — mutant against wild type, one perturbation against another</a:t>
            </a:r>
            <a:endParaRPr lang="en-US" sz="1350" dirty="0"/>
          </a:p>
          <a:p>
            <a:pPr marL="342900" indent="-342900">
              <a:spcAft>
                <a:spcPts val="800"/>
              </a:spcAft>
              <a:buSzPct val="100000"/>
              <a:buChar char="•"/>
            </a:pPr>
            <a:r>
              <a:rPr lang="en-US" sz="1350" dirty="0">
                <a:solidFill>
                  <a:srgbClr val="D8E8D8"/>
                </a:solidFill>
                <a:latin typeface="Calibri" pitchFamily="34" charset="0"/>
                <a:ea typeface="Calibri" pitchFamily="34" charset="-122"/>
                <a:cs typeface="Calibri" pitchFamily="34" charset="-120"/>
              </a:rPr>
              <a:t>The ordering of which connection is most loaded</a:t>
            </a:r>
            <a:endParaRPr lang="en-US" sz="1350" dirty="0"/>
          </a:p>
          <a:p>
            <a:pPr marL="342900" indent="-342900">
              <a:spcAft>
                <a:spcPts val="800"/>
              </a:spcAft>
              <a:buSzPct val="100000"/>
              <a:buChar char="•"/>
            </a:pPr>
            <a:r>
              <a:rPr lang="en-US" sz="1350" dirty="0">
                <a:solidFill>
                  <a:srgbClr val="D8E8D8"/>
                </a:solidFill>
                <a:latin typeface="Calibri" pitchFamily="34" charset="0"/>
                <a:ea typeface="Calibri" pitchFamily="34" charset="-122"/>
                <a:cs typeface="Calibri" pitchFamily="34" charset="-120"/>
              </a:rPr>
              <a:t>Whether a proposed architecture is geometrically possible at all</a:t>
            </a:r>
            <a:endParaRPr lang="en-US" sz="1350" dirty="0"/>
          </a:p>
          <a:p>
            <a:pPr marL="342900" indent="-342900">
              <a:spcAft>
                <a:spcPts val="800"/>
              </a:spcAft>
              <a:buSzPct val="100000"/>
              <a:buChar char="•"/>
            </a:pPr>
            <a:r>
              <a:rPr lang="en-US" sz="1350" dirty="0">
                <a:solidFill>
                  <a:srgbClr val="D8E8D8"/>
                </a:solidFill>
                <a:latin typeface="Calibri" pitchFamily="34" charset="0"/>
                <a:ea typeface="Calibri" pitchFamily="34" charset="-122"/>
                <a:cs typeface="Calibri" pitchFamily="34" charset="-120"/>
              </a:rPr>
              <a:t>Diameter predictions, the one output with independent support</a:t>
            </a:r>
            <a:endParaRPr lang="en-US" sz="1350" dirty="0"/>
          </a:p>
          <a:p>
            <a:pPr marL="342900" indent="-342900">
              <a:spcAft>
                <a:spcPts val="800"/>
              </a:spcAft>
              <a:buSzPct val="100000"/>
              <a:buChar char="•"/>
            </a:pPr>
            <a:r>
              <a:rPr lang="en-US" sz="1350" dirty="0">
                <a:solidFill>
                  <a:srgbClr val="D8E8D8"/>
                </a:solidFill>
                <a:latin typeface="Calibri" pitchFamily="34" charset="0"/>
                <a:ea typeface="Calibri" pitchFamily="34" charset="-122"/>
                <a:cs typeface="Calibri" pitchFamily="34" charset="-120"/>
              </a:rPr>
              <a:t>Generating hypotheses worth testing at the bench</a:t>
            </a:r>
            <a:endParaRPr lang="en-US" sz="1350" dirty="0"/>
          </a:p>
        </p:txBody>
      </p:sp>
      <p:sp>
        <p:nvSpPr>
          <p:cNvPr id="6" name="Shape 4"/>
          <p:cNvSpPr/>
          <p:nvPr/>
        </p:nvSpPr>
        <p:spPr>
          <a:xfrm>
            <a:off x="6263640" y="1600200"/>
            <a:ext cx="5074920" cy="4023360"/>
          </a:xfrm>
          <a:prstGeom prst="roundRect">
            <a:avLst>
              <a:gd name="adj" fmla="val 1818"/>
            </a:avLst>
          </a:prstGeom>
          <a:solidFill>
            <a:srgbClr val="3A1620"/>
          </a:solidFill>
          <a:ln w="12700">
            <a:solidFill>
              <a:srgbClr val="C62828"/>
            </a:solidFill>
            <a:prstDash val="solid"/>
          </a:ln>
        </p:spPr>
      </p:sp>
      <p:sp>
        <p:nvSpPr>
          <p:cNvPr id="7" name="Text 5"/>
          <p:cNvSpPr/>
          <p:nvPr/>
        </p:nvSpPr>
        <p:spPr>
          <a:xfrm>
            <a:off x="6537960" y="1783080"/>
            <a:ext cx="4572000" cy="365760"/>
          </a:xfrm>
          <a:prstGeom prst="rect">
            <a:avLst/>
          </a:prstGeom>
          <a:noFill/>
          <a:ln/>
        </p:spPr>
        <p:txBody>
          <a:bodyPr wrap="square" rtlCol="0" anchor="ctr"/>
          <a:lstStyle/>
          <a:p>
            <a:pPr indent="0" marL="0">
              <a:buNone/>
            </a:pPr>
            <a:r>
              <a:rPr lang="en-US" sz="1700" b="1" dirty="0">
                <a:solidFill>
                  <a:srgbClr val="F09A9A"/>
                </a:solidFill>
                <a:latin typeface="Calibri" pitchFamily="34" charset="0"/>
                <a:ea typeface="Calibri" pitchFamily="34" charset="-122"/>
                <a:cs typeface="Calibri" pitchFamily="34" charset="-120"/>
              </a:rPr>
              <a:t>NOT SAFE</a:t>
            </a:r>
            <a:endParaRPr lang="en-US" sz="1700" dirty="0"/>
          </a:p>
        </p:txBody>
      </p:sp>
      <p:sp>
        <p:nvSpPr>
          <p:cNvPr id="8" name="Text 6"/>
          <p:cNvSpPr/>
          <p:nvPr/>
        </p:nvSpPr>
        <p:spPr>
          <a:xfrm>
            <a:off x="6537960" y="2240280"/>
            <a:ext cx="4572000" cy="3200400"/>
          </a:xfrm>
          <a:prstGeom prst="rect">
            <a:avLst/>
          </a:prstGeom>
          <a:noFill/>
          <a:ln/>
        </p:spPr>
        <p:txBody>
          <a:bodyPr wrap="square" rtlCol="0" anchor="ctr"/>
          <a:lstStyle/>
          <a:p>
            <a:pPr marL="342900" indent="-342900">
              <a:spcAft>
                <a:spcPts val="800"/>
              </a:spcAft>
              <a:buSzPct val="100000"/>
              <a:buChar char="•"/>
            </a:pPr>
            <a:r>
              <a:rPr lang="en-US" sz="1350" dirty="0">
                <a:solidFill>
                  <a:srgbClr val="F0D8D8"/>
                </a:solidFill>
                <a:latin typeface="Calibri" pitchFamily="34" charset="0"/>
                <a:ea typeface="Calibri" pitchFamily="34" charset="-122"/>
                <a:cs typeface="Calibri" pitchFamily="34" charset="-120"/>
              </a:rPr>
              <a:t>“Wild type is optimal” as an independent finding — it is largely built in</a:t>
            </a:r>
            <a:endParaRPr lang="en-US" sz="1350" dirty="0"/>
          </a:p>
          <a:p>
            <a:pPr marL="342900" indent="-342900">
              <a:spcAft>
                <a:spcPts val="800"/>
              </a:spcAft>
              <a:buSzPct val="100000"/>
              <a:buChar char="•"/>
            </a:pPr>
            <a:r>
              <a:rPr lang="en-US" sz="1350" dirty="0">
                <a:solidFill>
                  <a:srgbClr val="F0D8D8"/>
                </a:solidFill>
                <a:latin typeface="Calibri" pitchFamily="34" charset="0"/>
                <a:ea typeface="Calibri" pitchFamily="34" charset="-122"/>
                <a:cs typeface="Calibri" pitchFamily="34" charset="-120"/>
              </a:rPr>
              <a:t>Absolute strain values, forces, or rupture thresholds</a:t>
            </a:r>
            <a:endParaRPr lang="en-US" sz="1350" dirty="0"/>
          </a:p>
          <a:p>
            <a:pPr marL="342900" indent="-342900">
              <a:spcAft>
                <a:spcPts val="800"/>
              </a:spcAft>
              <a:buSzPct val="100000"/>
              <a:buChar char="•"/>
            </a:pPr>
            <a:r>
              <a:rPr lang="en-US" sz="1350" dirty="0">
                <a:solidFill>
                  <a:srgbClr val="F0D8D8"/>
                </a:solidFill>
                <a:latin typeface="Calibri" pitchFamily="34" charset="0"/>
                <a:ea typeface="Calibri" pitchFamily="34" charset="-122"/>
                <a:cs typeface="Calibri" pitchFamily="34" charset="-120"/>
              </a:rPr>
              <a:t>Any claim about twist, axial gradients or assembly over time</a:t>
            </a:r>
            <a:endParaRPr lang="en-US" sz="1350" dirty="0"/>
          </a:p>
          <a:p>
            <a:pPr marL="342900" indent="-342900">
              <a:spcAft>
                <a:spcPts val="800"/>
              </a:spcAft>
              <a:buSzPct val="100000"/>
              <a:buChar char="•"/>
            </a:pPr>
            <a:r>
              <a:rPr lang="en-US" sz="1350" dirty="0">
                <a:solidFill>
                  <a:srgbClr val="F0D8D8"/>
                </a:solidFill>
                <a:latin typeface="Calibri" pitchFamily="34" charset="0"/>
                <a:ea typeface="Calibri" pitchFamily="34" charset="-122"/>
                <a:cs typeface="Calibri" pitchFamily="34" charset="-120"/>
              </a:rPr>
              <a:t>Precision beyond about 1 nm and a few degrees</a:t>
            </a:r>
            <a:endParaRPr lang="en-US" sz="1350" dirty="0"/>
          </a:p>
          <a:p>
            <a:pPr marL="342900" indent="-342900">
              <a:spcAft>
                <a:spcPts val="800"/>
              </a:spcAft>
              <a:buSzPct val="100000"/>
              <a:buChar char="•"/>
            </a:pPr>
            <a:r>
              <a:rPr lang="en-US" sz="1350" dirty="0">
                <a:solidFill>
                  <a:srgbClr val="F0D8D8"/>
                </a:solidFill>
                <a:latin typeface="Calibri" pitchFamily="34" charset="0"/>
                <a:ea typeface="Calibri" pitchFamily="34" charset="-122"/>
                <a:cs typeface="Calibri" pitchFamily="34" charset="-120"/>
              </a:rPr>
              <a:t>Negative results on questions the 2D geometry cannot represent</a:t>
            </a:r>
            <a:endParaRPr lang="en-US" sz="1350" dirty="0"/>
          </a:p>
        </p:txBody>
      </p:sp>
      <p:sp>
        <p:nvSpPr>
          <p:cNvPr id="9" name="Text 7"/>
          <p:cNvSpPr/>
          <p:nvPr/>
        </p:nvSpPr>
        <p:spPr>
          <a:xfrm>
            <a:off x="822960" y="5897880"/>
            <a:ext cx="10515600" cy="640080"/>
          </a:xfrm>
          <a:prstGeom prst="rect">
            <a:avLst/>
          </a:prstGeom>
          <a:noFill/>
          <a:ln/>
        </p:spPr>
        <p:txBody>
          <a:bodyPr wrap="square" rtlCol="0" anchor="ctr"/>
          <a:lstStyle/>
          <a:p>
            <a:pPr indent="0" marL="0">
              <a:buNone/>
            </a:pPr>
            <a:r>
              <a:rPr lang="en-US" sz="1500" i="1" dirty="0">
                <a:solidFill>
                  <a:srgbClr val="2FA8A8"/>
                </a:solidFill>
                <a:latin typeface="Calibri" pitchFamily="34" charset="0"/>
                <a:ea typeface="Calibri" pitchFamily="34" charset="-122"/>
                <a:cs typeface="Calibri" pitchFamily="34" charset="-120"/>
              </a:rPr>
              <a:t>Bottom line: a well-built hypothesis generator that has not yet been independently validated. Use it to decide what to measure, not to conclude what is true.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2026-08-03T10:13:42Z</dcterms:created>
  <dcterms:modified xsi:type="dcterms:W3CDTF">2026-08-03T10:13:42Z</dcterms:modified>
</cp:coreProperties>
</file>