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Wall-clock per configuration</a:t>
            </a:r>
          </a:p>
        </c:rich>
      </c:tx>
      <c:layout/>
      <c:overlay val="0"/>
    </c:title>
    <c:autoTitleDeleted val="0"/>
    <c:plotArea>
      <c:layout/>
      <c:barChart>
        <c:barDir val="col"/>
        <c:grouping val="clustered"/>
        <c:varyColors val="0"/>
        <c:ser>
          <c:idx val="0"/>
          <c:order val="0"/>
          <c:tx>
            <c:strRef>
              <c:f>Sheet1!$B$1</c:f>
              <c:strCache>
                <c:ptCount val="1"/>
                <c:pt idx="0">
                  <c:v>Solve time (s)</c:v>
                </c:pt>
              </c:strCache>
            </c:strRef>
          </c:tx>
          <c:spPr>
            <a:solidFill>
              <a:srgbClr val="D97706"/>
            </a:solidFill>
            <a:effectLst/>
          </c:spPr>
          <c:invertIfNegative val="0"/>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typical</c:v>
                  </c:pt>
                  <c:pt idx="1">
                    <c:v>n_pf = 9</c:v>
                  </c:pt>
                  <c:pt idx="2">
                    <c:v>n_pf = 18</c:v>
                  </c:pt>
                </c:lvl>
              </c:multiLvlStrCache>
            </c:multiLvlStrRef>
          </c:cat>
          <c:val>
            <c:numRef>
              <c:f>Sheet1!$B$2:$B$4</c:f>
              <c:numCache>
                <c:formatCode>General</c:formatCode>
                <c:ptCount val="3"/>
                <c:pt idx="0">
                  <c:v>2</c:v>
                </c:pt>
                <c:pt idx="1">
                  <c:v>28.5</c:v>
                </c:pt>
                <c:pt idx="2">
                  <c:v>257</c:v>
                </c:pt>
              </c:numCache>
            </c:numRef>
          </c:val>
        </c:ser>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A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035"/>
        </a:solidFill>
      </p:bgPr>
    </p:bg>
    <p:spTree>
      <p:nvGrpSpPr>
        <p:cNvPr id="1" name=""/>
        <p:cNvGrpSpPr/>
        <p:nvPr/>
      </p:nvGrpSpPr>
      <p:grpSpPr>
        <a:xfrm>
          <a:off x="0" y="0"/>
          <a:ext cx="0" cy="0"/>
          <a:chOff x="0" y="0"/>
          <a:chExt cx="0" cy="0"/>
        </a:xfrm>
      </p:grpSpPr>
      <p:sp>
        <p:nvSpPr>
          <p:cNvPr id="2" name="Text 0"/>
          <p:cNvSpPr/>
          <p:nvPr/>
        </p:nvSpPr>
        <p:spPr>
          <a:xfrm>
            <a:off x="822960" y="1371600"/>
            <a:ext cx="10515600" cy="365760"/>
          </a:xfrm>
          <a:prstGeom prst="rect">
            <a:avLst/>
          </a:prstGeom>
          <a:noFill/>
          <a:ln/>
        </p:spPr>
        <p:txBody>
          <a:bodyPr wrap="square" rtlCol="0" anchor="ctr"/>
          <a:lstStyle/>
          <a:p>
            <a:pPr indent="0" marL="0">
              <a:buNone/>
            </a:pPr>
            <a:r>
              <a:rPr lang="en-US" sz="1500" b="1" spc="300" kern="0" dirty="0">
                <a:solidFill>
                  <a:srgbClr val="2FA8A8"/>
                </a:solidFill>
                <a:latin typeface="Calibri" pitchFamily="34" charset="0"/>
                <a:ea typeface="Calibri" pitchFamily="34" charset="-122"/>
                <a:cs typeface="Calibri" pitchFamily="34" charset="-120"/>
              </a:rPr>
              <a:t>CRITICAL EVALUATION</a:t>
            </a:r>
            <a:endParaRPr lang="en-US" sz="1500" dirty="0"/>
          </a:p>
        </p:txBody>
      </p:sp>
      <p:sp>
        <p:nvSpPr>
          <p:cNvPr id="3" name="Text 1"/>
          <p:cNvSpPr/>
          <p:nvPr/>
        </p:nvSpPr>
        <p:spPr>
          <a:xfrm>
            <a:off x="822960" y="1783080"/>
            <a:ext cx="10881360" cy="1965960"/>
          </a:xfrm>
          <a:prstGeom prst="rect">
            <a:avLst/>
          </a:prstGeom>
          <a:noFill/>
          <a:ln/>
        </p:spPr>
        <p:txBody>
          <a:bodyPr wrap="square" rtlCol="0" anchor="ctr"/>
          <a:lstStyle/>
          <a:p>
            <a:pPr indent="0" marL="0">
              <a:buNone/>
            </a:pPr>
            <a:r>
              <a:rPr lang="en-US" sz="4100" b="1" dirty="0">
                <a:solidFill>
                  <a:srgbClr val="FFFFFF"/>
                </a:solidFill>
                <a:latin typeface="Cambria" pitchFamily="34" charset="0"/>
                <a:ea typeface="Cambria" pitchFamily="34" charset="-122"/>
                <a:cs typeface="Cambria" pitchFamily="34" charset="-120"/>
              </a:rPr>
              <a:t>What this model cannot</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currently be trusted to tell you</a:t>
            </a:r>
            <a:endParaRPr lang="en-US" sz="4100" dirty="0"/>
          </a:p>
        </p:txBody>
      </p:sp>
      <p:sp>
        <p:nvSpPr>
          <p:cNvPr id="4" name="Text 2"/>
          <p:cNvSpPr/>
          <p:nvPr/>
        </p:nvSpPr>
        <p:spPr>
          <a:xfrm>
            <a:off x="822960" y="3886200"/>
            <a:ext cx="9966960" cy="1005840"/>
          </a:xfrm>
          <a:prstGeom prst="rect">
            <a:avLst/>
          </a:prstGeom>
          <a:noFill/>
          <a:ln/>
        </p:spPr>
        <p:txBody>
          <a:bodyPr wrap="square" rtlCol="0" anchor="ctr"/>
          <a:lstStyle/>
          <a:p>
            <a:pPr indent="0" marL="0">
              <a:buNone/>
            </a:pPr>
            <a:r>
              <a:rPr lang="en-US" sz="1800" dirty="0">
                <a:solidFill>
                  <a:srgbClr val="C9C4DB"/>
                </a:solidFill>
                <a:latin typeface="Calibri" pitchFamily="34" charset="0"/>
                <a:ea typeface="Calibri" pitchFamily="34" charset="-122"/>
                <a:cs typeface="Calibri" pitchFamily="34" charset="-120"/>
              </a:rPr>
              <a:t>An assessment of CenGeometry's limitations, ranked by severity</a:t>
            </a:r>
            <a:endParaRPr lang="en-US" sz="1800" dirty="0"/>
          </a:p>
        </p:txBody>
      </p:sp>
      <p:sp>
        <p:nvSpPr>
          <p:cNvPr id="5" name="Text 3"/>
          <p:cNvSpPr/>
          <p:nvPr/>
        </p:nvSpPr>
        <p:spPr>
          <a:xfrm>
            <a:off x="822960" y="5760720"/>
            <a:ext cx="10515600" cy="548640"/>
          </a:xfrm>
          <a:prstGeom prst="rect">
            <a:avLst/>
          </a:prstGeom>
          <a:noFill/>
          <a:ln/>
        </p:spPr>
        <p:txBody>
          <a:bodyPr wrap="square" rtlCol="0" anchor="ctr"/>
          <a:lstStyle/>
          <a:p>
            <a:pPr indent="0" marL="0">
              <a:buNone/>
            </a:pPr>
            <a:r>
              <a:rPr lang="en-US" sz="1200" i="1" dirty="0">
                <a:solidFill>
                  <a:srgbClr val="9A93B5"/>
                </a:solidFill>
                <a:latin typeface="Calibri" pitchFamily="34" charset="0"/>
                <a:ea typeface="Calibri" pitchFamily="34" charset="-122"/>
                <a:cs typeface="Calibri" pitchFamily="34" charset="-120"/>
              </a:rPr>
              <a:t>Caveat on this review: it was written by the same process that built the tool. Self-assessment is weaker than independent review — an outside critic should repeat it.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A FAIR STARTING POINT</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First, what it genuinely achieves</a:t>
            </a:r>
            <a:endParaRPr lang="en-US" sz="3400" dirty="0"/>
          </a:p>
        </p:txBody>
      </p:sp>
      <p:sp>
        <p:nvSpPr>
          <p:cNvPr id="4" name="Shape 2"/>
          <p:cNvSpPr/>
          <p:nvPr/>
        </p:nvSpPr>
        <p:spPr>
          <a:xfrm>
            <a:off x="640080" y="1463040"/>
            <a:ext cx="5257800" cy="1965960"/>
          </a:xfrm>
          <a:prstGeom prst="roundRect">
            <a:avLst>
              <a:gd name="adj" fmla="val 3721"/>
            </a:avLst>
          </a:prstGeom>
          <a:solidFill>
            <a:srgbClr val="E8F5E9"/>
          </a:solidFill>
          <a:ln w="12700">
            <a:solidFill>
              <a:srgbClr val="E8F5E9"/>
            </a:solidFill>
            <a:prstDash val="solid"/>
          </a:ln>
        </p:spPr>
      </p:sp>
      <p:sp>
        <p:nvSpPr>
          <p:cNvPr id="5" name="Text 3"/>
          <p:cNvSpPr/>
          <p:nvPr/>
        </p:nvSpPr>
        <p:spPr>
          <a:xfrm>
            <a:off x="960120" y="169164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Traceable calibration</a:t>
            </a:r>
            <a:endParaRPr lang="en-US" sz="1800" dirty="0"/>
          </a:p>
        </p:txBody>
      </p:sp>
      <p:sp>
        <p:nvSpPr>
          <p:cNvPr id="6" name="Text 4"/>
          <p:cNvSpPr/>
          <p:nvPr/>
        </p:nvSpPr>
        <p:spPr>
          <a:xfrm>
            <a:off x="960120" y="221284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Every dimension but one is derived from a schematic by a re-runnable script. That is better practice than most models of this kind.</a:t>
            </a:r>
            <a:endParaRPr lang="en-US" sz="1400" dirty="0"/>
          </a:p>
        </p:txBody>
      </p:sp>
      <p:sp>
        <p:nvSpPr>
          <p:cNvPr id="7" name="Shape 5"/>
          <p:cNvSpPr/>
          <p:nvPr/>
        </p:nvSpPr>
        <p:spPr>
          <a:xfrm>
            <a:off x="6263640" y="1463040"/>
            <a:ext cx="5257800" cy="1965960"/>
          </a:xfrm>
          <a:prstGeom prst="roundRect">
            <a:avLst>
              <a:gd name="adj" fmla="val 3721"/>
            </a:avLst>
          </a:prstGeom>
          <a:solidFill>
            <a:srgbClr val="E8F5E9"/>
          </a:solidFill>
          <a:ln w="12700">
            <a:solidFill>
              <a:srgbClr val="E8F5E9"/>
            </a:solidFill>
            <a:prstDash val="solid"/>
          </a:ln>
        </p:spPr>
      </p:sp>
      <p:sp>
        <p:nvSpPr>
          <p:cNvPr id="8" name="Text 6"/>
          <p:cNvSpPr/>
          <p:nvPr/>
        </p:nvSpPr>
        <p:spPr>
          <a:xfrm>
            <a:off x="6583680" y="169164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Real structural findings</a:t>
            </a:r>
            <a:endParaRPr lang="en-US" sz="1800" dirty="0"/>
          </a:p>
        </p:txBody>
      </p:sp>
      <p:sp>
        <p:nvSpPr>
          <p:cNvPr id="9" name="Text 7"/>
          <p:cNvSpPr/>
          <p:nvPr/>
        </p:nvSpPr>
        <p:spPr>
          <a:xfrm>
            <a:off x="6583680" y="221284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Measurement revealed the shared protofilament lattice and the bent A-C linker. Neither was assumed.</a:t>
            </a:r>
            <a:endParaRPr lang="en-US" sz="1400" dirty="0"/>
          </a:p>
        </p:txBody>
      </p:sp>
      <p:sp>
        <p:nvSpPr>
          <p:cNvPr id="10" name="Shape 8"/>
          <p:cNvSpPr/>
          <p:nvPr/>
        </p:nvSpPr>
        <p:spPr>
          <a:xfrm>
            <a:off x="640080" y="3703320"/>
            <a:ext cx="5257800" cy="1965960"/>
          </a:xfrm>
          <a:prstGeom prst="roundRect">
            <a:avLst>
              <a:gd name="adj" fmla="val 3721"/>
            </a:avLst>
          </a:prstGeom>
          <a:solidFill>
            <a:srgbClr val="E8F5E9"/>
          </a:solidFill>
          <a:ln w="12700">
            <a:solidFill>
              <a:srgbClr val="E8F5E9"/>
            </a:solidFill>
            <a:prstDash val="solid"/>
          </a:ln>
        </p:spPr>
      </p:sp>
      <p:sp>
        <p:nvSpPr>
          <p:cNvPr id="11" name="Text 9"/>
          <p:cNvSpPr/>
          <p:nvPr/>
        </p:nvSpPr>
        <p:spPr>
          <a:xfrm>
            <a:off x="960120" y="393192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An independent number that matches</a:t>
            </a:r>
            <a:endParaRPr lang="en-US" sz="1800" dirty="0"/>
          </a:p>
        </p:txBody>
      </p:sp>
      <p:sp>
        <p:nvSpPr>
          <p:cNvPr id="12" name="Text 10"/>
          <p:cNvSpPr/>
          <p:nvPr/>
        </p:nvSpPr>
        <p:spPr>
          <a:xfrm>
            <a:off x="960120" y="445312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Wild-type diameter of 255 nm against ~250 nm measured. Diameter was never fitted.</a:t>
            </a:r>
            <a:endParaRPr lang="en-US" sz="1400" dirty="0"/>
          </a:p>
        </p:txBody>
      </p:sp>
      <p:sp>
        <p:nvSpPr>
          <p:cNvPr id="13" name="Shape 11"/>
          <p:cNvSpPr/>
          <p:nvPr/>
        </p:nvSpPr>
        <p:spPr>
          <a:xfrm>
            <a:off x="6263640" y="3703320"/>
            <a:ext cx="5257800" cy="1965960"/>
          </a:xfrm>
          <a:prstGeom prst="roundRect">
            <a:avLst>
              <a:gd name="adj" fmla="val 3721"/>
            </a:avLst>
          </a:prstGeom>
          <a:solidFill>
            <a:srgbClr val="E8F5E9"/>
          </a:solidFill>
          <a:ln w="12700">
            <a:solidFill>
              <a:srgbClr val="E8F5E9"/>
            </a:solidFill>
            <a:prstDash val="solid"/>
          </a:ln>
        </p:spPr>
      </p:sp>
      <p:sp>
        <p:nvSpPr>
          <p:cNvPr id="14" name="Text 12"/>
          <p:cNvSpPr/>
          <p:nvPr/>
        </p:nvSpPr>
        <p:spPr>
          <a:xfrm>
            <a:off x="6583680" y="393192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Honest internal documentation</a:t>
            </a:r>
            <a:endParaRPr lang="en-US" sz="1800" dirty="0"/>
          </a:p>
        </p:txBody>
      </p:sp>
      <p:sp>
        <p:nvSpPr>
          <p:cNvPr id="15" name="Text 13"/>
          <p:cNvSpPr/>
          <p:nvPr/>
        </p:nvSpPr>
        <p:spPr>
          <a:xfrm>
            <a:off x="6583680" y="445312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Failed analyses are parked with their blockers recorded rather than quietly dropped.</a:t>
            </a:r>
            <a:endParaRPr lang="en-US" sz="1400" dirty="0"/>
          </a:p>
        </p:txBody>
      </p:sp>
      <p:sp>
        <p:nvSpPr>
          <p:cNvPr id="16" name="Text 14"/>
          <p:cNvSpPr/>
          <p:nvPr/>
        </p:nvSpPr>
        <p:spPr>
          <a:xfrm>
            <a:off x="640080" y="603504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The problems below are real, but they are problems of interpretation and calibration — not of workmanship.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 · THE CRUX</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The headline validation is largely circular</a:t>
            </a:r>
            <a:endParaRPr lang="en-US" sz="3400" dirty="0"/>
          </a:p>
        </p:txBody>
      </p:sp>
      <p:sp>
        <p:nvSpPr>
          <p:cNvPr id="4" name="Shape 2"/>
          <p:cNvSpPr/>
          <p:nvPr/>
        </p:nvSpPr>
        <p:spPr>
          <a:xfrm>
            <a:off x="640080" y="1371600"/>
            <a:ext cx="10881360" cy="1371600"/>
          </a:xfrm>
          <a:prstGeom prst="roundRect">
            <a:avLst>
              <a:gd name="adj" fmla="val 5333"/>
            </a:avLst>
          </a:prstGeom>
          <a:solidFill>
            <a:srgbClr val="FFEBEE"/>
          </a:solidFill>
          <a:ln w="12700">
            <a:solidFill>
              <a:srgbClr val="FFEBEE"/>
            </a:solidFill>
            <a:prstDash val="solid"/>
          </a:ln>
        </p:spPr>
      </p:sp>
      <p:sp>
        <p:nvSpPr>
          <p:cNvPr id="5" name="Text 3"/>
          <p:cNvSpPr/>
          <p:nvPr/>
        </p:nvSpPr>
        <p:spPr>
          <a:xfrm>
            <a:off x="868680" y="1536192"/>
            <a:ext cx="10424160" cy="1097280"/>
          </a:xfrm>
          <a:prstGeom prst="rect">
            <a:avLst/>
          </a:prstGeom>
          <a:noFill/>
          <a:ln/>
        </p:spPr>
        <p:txBody>
          <a:bodyPr wrap="square" lIns="0" tIns="0" rIns="0" bIns="0" rtlCol="0" anchor="ctr"/>
          <a:lstStyle/>
          <a:p>
            <a:pPr indent="0" marL="0">
              <a:buNone/>
            </a:pPr>
            <a:r>
              <a:rPr lang="en-US" sz="1500" dirty="0">
                <a:solidFill>
                  <a:srgbClr val="8E1B1B"/>
                </a:solidFill>
                <a:latin typeface="Calibri" pitchFamily="34" charset="0"/>
                <a:ea typeface="Calibri" pitchFamily="34" charset="-122"/>
                <a:cs typeface="Calibri" pitchFamily="34" charset="-120"/>
              </a:rPr>
              <a:t>The claim: “the measured wild-type value sits at a strain minimum for five parameters independently.”</a:t>
            </a:r>
            <a:endParaRPr lang="en-US" sz="1500" dirty="0"/>
          </a:p>
          <a:p>
            <a:pPr indent="0" marL="0">
              <a:buNone/>
            </a:pPr>
            <a:r>
              <a:rPr lang="en-US" sz="1500" dirty="0">
                <a:solidFill>
                  <a:srgbClr val="8E1B1B"/>
                </a:solidFill>
                <a:latin typeface="Calibri" pitchFamily="34" charset="0"/>
                <a:ea typeface="Calibri" pitchFamily="34" charset="-122"/>
                <a:cs typeface="Calibri" pitchFamily="34" charset="-120"/>
              </a:rPr>
              <a:t>The problem: the model's energy is the sum of bond gaps and deviations from rest angles — and those rest angles were themselves measured from the wild-type geometry.</a:t>
            </a:r>
            <a:endParaRPr lang="en-US" sz="1500" dirty="0"/>
          </a:p>
        </p:txBody>
      </p:sp>
      <p:sp>
        <p:nvSpPr>
          <p:cNvPr id="6" name="Text 4"/>
          <p:cNvSpPr/>
          <p:nvPr/>
        </p:nvSpPr>
        <p:spPr>
          <a:xfrm>
            <a:off x="640080" y="2926080"/>
            <a:ext cx="10881360" cy="365760"/>
          </a:xfrm>
          <a:prstGeom prst="rect">
            <a:avLst/>
          </a:prstGeom>
          <a:noFill/>
          <a:ln/>
        </p:spPr>
        <p:txBody>
          <a:bodyPr wrap="square"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Why that makes the minimum near-automatic</a:t>
            </a:r>
            <a:endParaRPr lang="en-US" sz="1700" dirty="0"/>
          </a:p>
        </p:txBody>
      </p:sp>
      <p:sp>
        <p:nvSpPr>
          <p:cNvPr id="7" name="Shape 5"/>
          <p:cNvSpPr/>
          <p:nvPr/>
        </p:nvSpPr>
        <p:spPr>
          <a:xfrm>
            <a:off x="640080" y="3383280"/>
            <a:ext cx="365760" cy="365760"/>
          </a:xfrm>
          <a:prstGeom prst="ellipse">
            <a:avLst/>
          </a:prstGeom>
          <a:solidFill>
            <a:srgbClr val="C62828"/>
          </a:solidFill>
          <a:ln w="12700">
            <a:solidFill>
              <a:srgbClr val="C62828"/>
            </a:solidFill>
            <a:prstDash val="solid"/>
          </a:ln>
        </p:spPr>
      </p:sp>
      <p:sp>
        <p:nvSpPr>
          <p:cNvPr id="8" name="Text 6"/>
          <p:cNvSpPr/>
          <p:nvPr/>
        </p:nvSpPr>
        <p:spPr>
          <a:xfrm>
            <a:off x="640080" y="33832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170432" y="3346704"/>
            <a:ext cx="10332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At the measured configuration, every angle deviation is zero by definition.</a:t>
            </a:r>
            <a:endParaRPr lang="en-US" sz="1500" dirty="0"/>
          </a:p>
        </p:txBody>
      </p:sp>
      <p:sp>
        <p:nvSpPr>
          <p:cNvPr id="10" name="Text 8"/>
          <p:cNvSpPr/>
          <p:nvPr/>
        </p:nvSpPr>
        <p:spPr>
          <a:xfrm>
            <a:off x="1170432" y="3712464"/>
            <a:ext cx="1033272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The energy is a sum of squares, so zero deviation with near-zero closure gap is its global minimum. Any departure can only raise it.</a:t>
            </a:r>
            <a:endParaRPr lang="en-US" sz="1400" dirty="0"/>
          </a:p>
        </p:txBody>
      </p:sp>
      <p:sp>
        <p:nvSpPr>
          <p:cNvPr id="11" name="Shape 9"/>
          <p:cNvSpPr/>
          <p:nvPr/>
        </p:nvSpPr>
        <p:spPr>
          <a:xfrm>
            <a:off x="640080" y="4343400"/>
            <a:ext cx="365760" cy="365760"/>
          </a:xfrm>
          <a:prstGeom prst="ellipse">
            <a:avLst/>
          </a:prstGeom>
          <a:solidFill>
            <a:srgbClr val="C62828"/>
          </a:solidFill>
          <a:ln w="12700">
            <a:solidFill>
              <a:srgbClr val="C62828"/>
            </a:solidFill>
            <a:prstDash val="solid"/>
          </a:ln>
        </p:spPr>
      </p:sp>
      <p:sp>
        <p:nvSpPr>
          <p:cNvPr id="12" name="Text 10"/>
          <p:cNvSpPr/>
          <p:nvPr/>
        </p:nvSpPr>
        <p:spPr>
          <a:xfrm>
            <a:off x="640080" y="43434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170432" y="4306824"/>
            <a:ext cx="10332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So “wild type is optimal” restates how the objective was defined.</a:t>
            </a:r>
            <a:endParaRPr lang="en-US" sz="1500" dirty="0"/>
          </a:p>
        </p:txBody>
      </p:sp>
      <p:sp>
        <p:nvSpPr>
          <p:cNvPr id="14" name="Text 12"/>
          <p:cNvSpPr/>
          <p:nvPr/>
        </p:nvSpPr>
        <p:spPr>
          <a:xfrm>
            <a:off x="1170432" y="4672584"/>
            <a:ext cx="1033272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It is not an independent prediction. A model built this way would place a minimum at whatever geometry it was calibrated on.</a:t>
            </a:r>
            <a:endParaRPr lang="en-US" sz="1400" dirty="0"/>
          </a:p>
        </p:txBody>
      </p:sp>
      <p:sp>
        <p:nvSpPr>
          <p:cNvPr id="15" name="Shape 13"/>
          <p:cNvSpPr/>
          <p:nvPr/>
        </p:nvSpPr>
        <p:spPr>
          <a:xfrm>
            <a:off x="640080" y="5349240"/>
            <a:ext cx="10881360" cy="1188720"/>
          </a:xfrm>
          <a:prstGeom prst="roundRect">
            <a:avLst>
              <a:gd name="adj" fmla="val 6154"/>
            </a:avLst>
          </a:prstGeom>
          <a:solidFill>
            <a:srgbClr val="E8F5E9"/>
          </a:solidFill>
          <a:ln w="12700">
            <a:solidFill>
              <a:srgbClr val="E8F5E9"/>
            </a:solidFill>
            <a:prstDash val="solid"/>
          </a:ln>
        </p:spPr>
      </p:sp>
      <p:sp>
        <p:nvSpPr>
          <p:cNvPr id="16" name="Text 14"/>
          <p:cNvSpPr/>
          <p:nvPr/>
        </p:nvSpPr>
        <p:spPr>
          <a:xfrm>
            <a:off x="868680" y="5486400"/>
            <a:ext cx="10424160" cy="960120"/>
          </a:xfrm>
          <a:prstGeom prst="rect">
            <a:avLst/>
          </a:prstGeom>
          <a:noFill/>
          <a:ln/>
        </p:spPr>
        <p:txBody>
          <a:bodyPr wrap="square" lIns="0" tIns="0" rIns="0" bIns="0" rtlCol="0" anchor="ctr"/>
          <a:lstStyle/>
          <a:p>
            <a:pPr indent="0" marL="0">
              <a:buNone/>
            </a:pPr>
            <a:r>
              <a:rPr lang="en-US" sz="1400" dirty="0">
                <a:solidFill>
                  <a:srgbClr val="1B5E20"/>
                </a:solidFill>
                <a:latin typeface="Calibri" pitchFamily="34" charset="0"/>
                <a:ea typeface="Calibri" pitchFamily="34" charset="-122"/>
                <a:cs typeface="Calibri" pitchFamily="34" charset="-120"/>
              </a:rPr>
              <a:t>What survives: two things are genuinely non-trivial. That a geometry measured from TWO units closes into a NINE-fold ring at all (to 0.022 nm) — though one parameter was fitted to help. And that the resulting diameter, 255 nm, matches the ~250 nm measured independently. The diameter agreement is the real validation; the strain minima are largely bookkeeping.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Everything rests on one hand-drawn schematic</a:t>
            </a:r>
            <a:endParaRPr lang="en-US" sz="3400" dirty="0"/>
          </a:p>
        </p:txBody>
      </p:sp>
      <p:sp>
        <p:nvSpPr>
          <p:cNvPr id="4" name="Shape 2"/>
          <p:cNvSpPr/>
          <p:nvPr/>
        </p:nvSpPr>
        <p:spPr>
          <a:xfrm>
            <a:off x="640080" y="1417320"/>
            <a:ext cx="10881360" cy="1078992"/>
          </a:xfrm>
          <a:prstGeom prst="roundRect">
            <a:avLst>
              <a:gd name="adj" fmla="val 6780"/>
            </a:avLst>
          </a:prstGeom>
          <a:solidFill>
            <a:srgbClr val="F4F1F9"/>
          </a:solidFill>
          <a:ln w="12700">
            <a:solidFill>
              <a:srgbClr val="F4F1F9"/>
            </a:solidFill>
            <a:prstDash val="solid"/>
          </a:ln>
        </p:spPr>
      </p:sp>
      <p:sp>
        <p:nvSpPr>
          <p:cNvPr id="5" name="Shape 3"/>
          <p:cNvSpPr/>
          <p:nvPr/>
        </p:nvSpPr>
        <p:spPr>
          <a:xfrm>
            <a:off x="914400" y="1801368"/>
            <a:ext cx="310896" cy="310896"/>
          </a:xfrm>
          <a:prstGeom prst="ellipse">
            <a:avLst/>
          </a:prstGeom>
          <a:solidFill>
            <a:srgbClr val="C62828"/>
          </a:solidFill>
          <a:ln w="12700">
            <a:solidFill>
              <a:srgbClr val="C62828"/>
            </a:solidFill>
            <a:prstDash val="solid"/>
          </a:ln>
        </p:spPr>
      </p:sp>
      <p:sp>
        <p:nvSpPr>
          <p:cNvPr id="6" name="Text 4"/>
          <p:cNvSpPr/>
          <p:nvPr/>
        </p:nvSpPr>
        <p:spPr>
          <a:xfrm>
            <a:off x="1417320" y="1508760"/>
            <a:ext cx="3154680" cy="868680"/>
          </a:xfrm>
          <a:prstGeom prst="rect">
            <a:avLst/>
          </a:prstGeom>
          <a:noFill/>
          <a:ln/>
        </p:spPr>
        <p:txBody>
          <a:bodyPr wrap="square" lIns="0" tIns="0" rIns="0" bIns="0" rtlCol="0" anchor="ctr"/>
          <a:lstStyle/>
          <a:p>
            <a:pPr indent="0" marL="0">
              <a:buNone/>
            </a:pPr>
            <a:r>
              <a:rPr lang="en-US" sz="1600" b="1" dirty="0">
                <a:solidFill>
                  <a:srgbClr val="C62828"/>
                </a:solidFill>
                <a:latin typeface="Calibri" pitchFamily="34" charset="0"/>
                <a:ea typeface="Calibri" pitchFamily="34" charset="-122"/>
                <a:cs typeface="Calibri" pitchFamily="34" charset="-120"/>
              </a:rPr>
              <a:t>Sample size of one</a:t>
            </a:r>
            <a:endParaRPr lang="en-US" sz="1600" dirty="0"/>
          </a:p>
        </p:txBody>
      </p:sp>
      <p:sp>
        <p:nvSpPr>
          <p:cNvPr id="7" name="Text 5"/>
          <p:cNvSpPr/>
          <p:nvPr/>
        </p:nvSpPr>
        <p:spPr>
          <a:xfrm>
            <a:off x="4663440" y="1545336"/>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All dimensions come from a single drawing of two units. There is no biological replicate, no error bar on any input, and no way to propagate uncertainty to the outputs.</a:t>
            </a:r>
            <a:endParaRPr lang="en-US" sz="1350" dirty="0"/>
          </a:p>
        </p:txBody>
      </p:sp>
      <p:sp>
        <p:nvSpPr>
          <p:cNvPr id="8" name="Shape 6"/>
          <p:cNvSpPr/>
          <p:nvPr/>
        </p:nvSpPr>
        <p:spPr>
          <a:xfrm>
            <a:off x="640080" y="2642616"/>
            <a:ext cx="10881360" cy="1078992"/>
          </a:xfrm>
          <a:prstGeom prst="roundRect">
            <a:avLst>
              <a:gd name="adj" fmla="val 6780"/>
            </a:avLst>
          </a:prstGeom>
          <a:solidFill>
            <a:srgbClr val="F4F1F9"/>
          </a:solidFill>
          <a:ln w="12700">
            <a:solidFill>
              <a:srgbClr val="F4F1F9"/>
            </a:solidFill>
            <a:prstDash val="solid"/>
          </a:ln>
        </p:spPr>
      </p:sp>
      <p:sp>
        <p:nvSpPr>
          <p:cNvPr id="9" name="Shape 7"/>
          <p:cNvSpPr/>
          <p:nvPr/>
        </p:nvSpPr>
        <p:spPr>
          <a:xfrm>
            <a:off x="914400" y="3026664"/>
            <a:ext cx="310896" cy="310896"/>
          </a:xfrm>
          <a:prstGeom prst="ellipse">
            <a:avLst/>
          </a:prstGeom>
          <a:solidFill>
            <a:srgbClr val="C62828"/>
          </a:solidFill>
          <a:ln w="12700">
            <a:solidFill>
              <a:srgbClr val="C62828"/>
            </a:solidFill>
            <a:prstDash val="solid"/>
          </a:ln>
        </p:spPr>
      </p:sp>
      <p:sp>
        <p:nvSpPr>
          <p:cNvPr id="10" name="Text 8"/>
          <p:cNvSpPr/>
          <p:nvPr/>
        </p:nvSpPr>
        <p:spPr>
          <a:xfrm>
            <a:off x="1417320" y="2734056"/>
            <a:ext cx="3154680" cy="868680"/>
          </a:xfrm>
          <a:prstGeom prst="rect">
            <a:avLst/>
          </a:prstGeom>
          <a:noFill/>
          <a:ln/>
        </p:spPr>
        <p:txBody>
          <a:bodyPr wrap="square" lIns="0" tIns="0" rIns="0" bIns="0" rtlCol="0" anchor="ctr"/>
          <a:lstStyle/>
          <a:p>
            <a:pPr indent="0" marL="0">
              <a:buNone/>
            </a:pPr>
            <a:r>
              <a:rPr lang="en-US" sz="1600" b="1" dirty="0">
                <a:solidFill>
                  <a:srgbClr val="C62828"/>
                </a:solidFill>
                <a:latin typeface="Calibri" pitchFamily="34" charset="0"/>
                <a:ea typeface="Calibri" pitchFamily="34" charset="-122"/>
                <a:cs typeface="Calibri" pitchFamily="34" charset="-120"/>
              </a:rPr>
              <a:t>The source contradicts itself</a:t>
            </a:r>
            <a:endParaRPr lang="en-US" sz="1600" dirty="0"/>
          </a:p>
        </p:txBody>
      </p:sp>
      <p:sp>
        <p:nvSpPr>
          <p:cNvPr id="11" name="Text 9"/>
          <p:cNvSpPr/>
          <p:nvPr/>
        </p:nvSpPr>
        <p:spPr>
          <a:xfrm>
            <a:off x="4663440" y="2770632"/>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The schematic's two triplets sit 41.4° apart while its two spokes sit exactly 40° apart. A 9-fold structure cannot be both. The model resolves this by enforcing exact symmetry and absorbing the discrepancy elsewhere.</a:t>
            </a:r>
            <a:endParaRPr lang="en-US" sz="1350" dirty="0"/>
          </a:p>
        </p:txBody>
      </p:sp>
      <p:sp>
        <p:nvSpPr>
          <p:cNvPr id="12" name="Shape 10"/>
          <p:cNvSpPr/>
          <p:nvPr/>
        </p:nvSpPr>
        <p:spPr>
          <a:xfrm>
            <a:off x="640080" y="3867912"/>
            <a:ext cx="10881360" cy="1078992"/>
          </a:xfrm>
          <a:prstGeom prst="roundRect">
            <a:avLst>
              <a:gd name="adj" fmla="val 6780"/>
            </a:avLst>
          </a:prstGeom>
          <a:solidFill>
            <a:srgbClr val="F4F1F9"/>
          </a:solidFill>
          <a:ln w="12700">
            <a:solidFill>
              <a:srgbClr val="F4F1F9"/>
            </a:solidFill>
            <a:prstDash val="solid"/>
          </a:ln>
        </p:spPr>
      </p:sp>
      <p:sp>
        <p:nvSpPr>
          <p:cNvPr id="13" name="Shape 11"/>
          <p:cNvSpPr/>
          <p:nvPr/>
        </p:nvSpPr>
        <p:spPr>
          <a:xfrm>
            <a:off x="914400" y="4251960"/>
            <a:ext cx="310896" cy="310896"/>
          </a:xfrm>
          <a:prstGeom prst="ellipse">
            <a:avLst/>
          </a:prstGeom>
          <a:solidFill>
            <a:srgbClr val="D97706"/>
          </a:solidFill>
          <a:ln w="12700">
            <a:solidFill>
              <a:srgbClr val="D97706"/>
            </a:solidFill>
            <a:prstDash val="solid"/>
          </a:ln>
        </p:spPr>
      </p:sp>
      <p:sp>
        <p:nvSpPr>
          <p:cNvPr id="14" name="Text 12"/>
          <p:cNvSpPr/>
          <p:nvPr/>
        </p:nvSpPr>
        <p:spPr>
          <a:xfrm>
            <a:off x="1417320" y="3959352"/>
            <a:ext cx="3154680" cy="86868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Reading noise sets the floor</a:t>
            </a:r>
            <a:endParaRPr lang="en-US" sz="1600" dirty="0"/>
          </a:p>
        </p:txBody>
      </p:sp>
      <p:sp>
        <p:nvSpPr>
          <p:cNvPr id="15" name="Text 13"/>
          <p:cNvSpPr/>
          <p:nvPr/>
        </p:nvSpPr>
        <p:spPr>
          <a:xfrm>
            <a:off x="4663440" y="3995928"/>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Protofilament positions were recovered from text-label anchors, carrying ~2° (~0.4 nm) of error. Numbers are reported to 0.01 nm — three orders of magnitude finer than the calibration supports.</a:t>
            </a:r>
            <a:endParaRPr lang="en-US" sz="1350" dirty="0"/>
          </a:p>
        </p:txBody>
      </p:sp>
      <p:sp>
        <p:nvSpPr>
          <p:cNvPr id="16" name="Shape 14"/>
          <p:cNvSpPr/>
          <p:nvPr/>
        </p:nvSpPr>
        <p:spPr>
          <a:xfrm>
            <a:off x="640080" y="5093208"/>
            <a:ext cx="10881360" cy="1078992"/>
          </a:xfrm>
          <a:prstGeom prst="roundRect">
            <a:avLst>
              <a:gd name="adj" fmla="val 6780"/>
            </a:avLst>
          </a:prstGeom>
          <a:solidFill>
            <a:srgbClr val="F4F1F9"/>
          </a:solidFill>
          <a:ln w="12700">
            <a:solidFill>
              <a:srgbClr val="F4F1F9"/>
            </a:solidFill>
            <a:prstDash val="solid"/>
          </a:ln>
        </p:spPr>
      </p:sp>
      <p:sp>
        <p:nvSpPr>
          <p:cNvPr id="17" name="Shape 15"/>
          <p:cNvSpPr/>
          <p:nvPr/>
        </p:nvSpPr>
        <p:spPr>
          <a:xfrm>
            <a:off x="914400" y="5477256"/>
            <a:ext cx="310896" cy="310896"/>
          </a:xfrm>
          <a:prstGeom prst="ellipse">
            <a:avLst/>
          </a:prstGeom>
          <a:solidFill>
            <a:srgbClr val="D97706"/>
          </a:solidFill>
          <a:ln w="12700">
            <a:solidFill>
              <a:srgbClr val="D97706"/>
            </a:solidFill>
            <a:prstDash val="solid"/>
          </a:ln>
        </p:spPr>
      </p:sp>
      <p:sp>
        <p:nvSpPr>
          <p:cNvPr id="18" name="Text 16"/>
          <p:cNvSpPr/>
          <p:nvPr/>
        </p:nvSpPr>
        <p:spPr>
          <a:xfrm>
            <a:off x="1417320" y="5184648"/>
            <a:ext cx="3154680" cy="86868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One input is fitted, not measured</a:t>
            </a:r>
            <a:endParaRPr lang="en-US" sz="1600" dirty="0"/>
          </a:p>
        </p:txBody>
      </p:sp>
      <p:sp>
        <p:nvSpPr>
          <p:cNvPr id="19" name="Text 17"/>
          <p:cNvSpPr/>
          <p:nvPr/>
        </p:nvSpPr>
        <p:spPr>
          <a:xfrm>
            <a:off x="4663440" y="5221224"/>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The SAS-6 head-head spacing cannot be read off the drawing and is tuned so wild type closes. That is the same parameter the closure validation then relies 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It is one flat slice of a helical object</a:t>
            </a:r>
            <a:endParaRPr lang="en-US" sz="3400" dirty="0"/>
          </a:p>
        </p:txBody>
      </p:sp>
      <p:sp>
        <p:nvSpPr>
          <p:cNvPr id="4" name="Text 2"/>
          <p:cNvSpPr/>
          <p:nvPr/>
        </p:nvSpPr>
        <p:spPr>
          <a:xfrm>
            <a:off x="640080" y="1325880"/>
            <a:ext cx="10881360" cy="640080"/>
          </a:xfrm>
          <a:prstGeom prst="rect">
            <a:avLst/>
          </a:prstGeom>
          <a:noFill/>
          <a:ln/>
        </p:spPr>
        <p:txBody>
          <a:bodyPr wrap="square" rtlCol="0" anchor="ctr"/>
          <a:lstStyle/>
          <a:p>
            <a:pPr indent="0" marL="0">
              <a:buNone/>
            </a:pPr>
            <a:r>
              <a:rPr lang="en-US" sz="1600" dirty="0">
                <a:solidFill>
                  <a:srgbClr val="6B7280"/>
                </a:solidFill>
                <a:latin typeface="Calibri" pitchFamily="34" charset="0"/>
                <a:ea typeface="Calibri" pitchFamily="34" charset="-122"/>
                <a:cs typeface="Calibri" pitchFamily="34" charset="-120"/>
              </a:rPr>
              <a:t>The centriole twists along its length. A single cross-section cannot represent that, and the consequence is not hypothetical — it already blocked a real investigation.</a:t>
            </a:r>
            <a:endParaRPr lang="en-US" sz="1600" dirty="0"/>
          </a:p>
        </p:txBody>
      </p:sp>
      <p:sp>
        <p:nvSpPr>
          <p:cNvPr id="5" name="Shape 3"/>
          <p:cNvSpPr/>
          <p:nvPr/>
        </p:nvSpPr>
        <p:spPr>
          <a:xfrm>
            <a:off x="640080" y="2148840"/>
            <a:ext cx="10881360" cy="1828800"/>
          </a:xfrm>
          <a:prstGeom prst="roundRect">
            <a:avLst>
              <a:gd name="adj" fmla="val 4000"/>
            </a:avLst>
          </a:prstGeom>
          <a:solidFill>
            <a:srgbClr val="FFEBEE"/>
          </a:solidFill>
          <a:ln w="12700">
            <a:solidFill>
              <a:srgbClr val="FFEBEE"/>
            </a:solidFill>
            <a:prstDash val="solid"/>
          </a:ln>
        </p:spPr>
      </p:sp>
      <p:sp>
        <p:nvSpPr>
          <p:cNvPr id="6" name="Text 4"/>
          <p:cNvSpPr/>
          <p:nvPr/>
        </p:nvSpPr>
        <p:spPr>
          <a:xfrm>
            <a:off x="914400" y="2331720"/>
            <a:ext cx="10332720" cy="365760"/>
          </a:xfrm>
          <a:prstGeom prst="rect">
            <a:avLst/>
          </a:prstGeom>
          <a:noFill/>
          <a:ln/>
        </p:spPr>
        <p:txBody>
          <a:bodyPr wrap="square" lIns="0" tIns="0" rIns="0" bIns="0" rtlCol="0" anchor="ctr"/>
          <a:lstStyle/>
          <a:p>
            <a:pPr indent="0" marL="0">
              <a:buNone/>
            </a:pPr>
            <a:r>
              <a:rPr lang="en-US" sz="1800" b="1" dirty="0">
                <a:solidFill>
                  <a:srgbClr val="8E1B1B"/>
                </a:solidFill>
                <a:latin typeface="Cambria" pitchFamily="34" charset="0"/>
                <a:ea typeface="Cambria" pitchFamily="34" charset="-122"/>
                <a:cs typeface="Cambria" pitchFamily="34" charset="-120"/>
              </a:rPr>
              <a:t>Worked example: the blooming question</a:t>
            </a:r>
            <a:endParaRPr lang="en-US" sz="1800" dirty="0"/>
          </a:p>
        </p:txBody>
      </p:sp>
      <p:sp>
        <p:nvSpPr>
          <p:cNvPr id="7" name="Text 5"/>
          <p:cNvSpPr/>
          <p:nvPr/>
        </p:nvSpPr>
        <p:spPr>
          <a:xfrm>
            <a:off x="914400" y="2788920"/>
            <a:ext cx="10332720" cy="1097280"/>
          </a:xfrm>
          <a:prstGeom prst="rect">
            <a:avLst/>
          </a:prstGeom>
          <a:noFill/>
          <a:ln/>
        </p:spPr>
        <p:txBody>
          <a:bodyPr wrap="square" lIns="0" tIns="0" rIns="0" bIns="0" rtlCol="0" anchor="ctr"/>
          <a:lstStyle/>
          <a:p>
            <a:pPr indent="0" marL="0">
              <a:buNone/>
            </a:pPr>
            <a:r>
              <a:rPr lang="en-US" sz="1450" dirty="0">
                <a:solidFill>
                  <a:srgbClr val="1A1A1A"/>
                </a:solidFill>
                <a:latin typeface="Calibri" pitchFamily="34" charset="0"/>
                <a:ea typeface="Calibri" pitchFamily="34" charset="-122"/>
                <a:cs typeface="Calibri" pitchFamily="34" charset="-120"/>
              </a:rPr>
              <a:t>A published iris-like motion is described as arising from A-C linker twist in the LONGITUDINAL direction. The model was run and returned a confident negative — no in-plane iris mode exists. That answer is irrelevant to the claim, because the claim is about a motion the model cannot represent. The investigation was parked for exactly this reason.</a:t>
            </a:r>
            <a:endParaRPr lang="en-US" sz="1450" dirty="0"/>
          </a:p>
        </p:txBody>
      </p:sp>
      <p:sp>
        <p:nvSpPr>
          <p:cNvPr id="8" name="Text 6"/>
          <p:cNvSpPr/>
          <p:nvPr/>
        </p:nvSpPr>
        <p:spPr>
          <a:xfrm>
            <a:off x="640080" y="4160520"/>
            <a:ext cx="10881360" cy="365760"/>
          </a:xfrm>
          <a:prstGeom prst="rect">
            <a:avLst/>
          </a:prstGeom>
          <a:noFill/>
          <a:ln/>
        </p:spPr>
        <p:txBody>
          <a:bodyPr wrap="square"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general risk</a:t>
            </a:r>
            <a:endParaRPr lang="en-US" sz="1700" dirty="0"/>
          </a:p>
        </p:txBody>
      </p:sp>
      <p:sp>
        <p:nvSpPr>
          <p:cNvPr id="9" name="Text 7"/>
          <p:cNvSpPr/>
          <p:nvPr/>
        </p:nvSpPr>
        <p:spPr>
          <a:xfrm>
            <a:off x="640080" y="4572000"/>
            <a:ext cx="10881360" cy="91440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A 2D model still returns a confident-looking number when asked a 3D question. Nothing in the output flags that the question was out of scope. Any result about twist, axial gradients, procentriole elongation or stacked cartwheel layers should be treated as unanswerable rather than answered.</a:t>
            </a:r>
            <a:endParaRPr lang="en-US" sz="1500" dirty="0"/>
          </a:p>
        </p:txBody>
      </p:sp>
      <p:sp>
        <p:nvSpPr>
          <p:cNvPr id="10" name="Text 8"/>
          <p:cNvSpPr/>
          <p:nvPr/>
        </p:nvSpPr>
        <p:spPr>
          <a:xfrm>
            <a:off x="640080" y="566928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Out-of-plane tilt also gives real interfaces accommodation the model lacks — so strain is probably overestimated.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SECOND TIER</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Fixable: the numbers behind the verdicts</a:t>
            </a:r>
            <a:endParaRPr lang="en-US" sz="3400" dirty="0"/>
          </a:p>
        </p:txBody>
      </p:sp>
      <p:sp>
        <p:nvSpPr>
          <p:cNvPr id="4" name="Shape 2"/>
          <p:cNvSpPr/>
          <p:nvPr/>
        </p:nvSpPr>
        <p:spPr>
          <a:xfrm>
            <a:off x="640080" y="1417320"/>
            <a:ext cx="10881360" cy="1417320"/>
          </a:xfrm>
          <a:prstGeom prst="roundRect">
            <a:avLst>
              <a:gd name="adj" fmla="val 5161"/>
            </a:avLst>
          </a:prstGeom>
          <a:solidFill>
            <a:srgbClr val="FFF8E1"/>
          </a:solidFill>
          <a:ln w="12700">
            <a:solidFill>
              <a:srgbClr val="FFF8E1"/>
            </a:solidFill>
            <a:prstDash val="solid"/>
          </a:ln>
        </p:spPr>
      </p:sp>
      <p:sp>
        <p:nvSpPr>
          <p:cNvPr id="5" name="Text 3"/>
          <p:cNvSpPr/>
          <p:nvPr/>
        </p:nvSpPr>
        <p:spPr>
          <a:xfrm>
            <a:off x="960120" y="1600200"/>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Joint thresholds are invented</a:t>
            </a:r>
            <a:endParaRPr lang="en-US" sz="1800" dirty="0"/>
          </a:p>
        </p:txBody>
      </p:sp>
      <p:sp>
        <p:nvSpPr>
          <p:cNvPr id="6" name="Text 4"/>
          <p:cNvSpPr/>
          <p:nvPr/>
        </p:nvSpPr>
        <p:spPr>
          <a:xfrm>
            <a:off x="960120" y="2057400"/>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OK / HARD / SEVERE limits were reasoned, not measured. Tested: scaling all bands 0.5×–2× leaves the qualitative conclusion intact, but flips the spoke's label between OK and HARD. So the ranking is robust; the labels are not.</a:t>
            </a:r>
            <a:endParaRPr lang="en-US" sz="1400" dirty="0"/>
          </a:p>
        </p:txBody>
      </p:sp>
      <p:sp>
        <p:nvSpPr>
          <p:cNvPr id="7" name="Shape 5"/>
          <p:cNvSpPr/>
          <p:nvPr/>
        </p:nvSpPr>
        <p:spPr>
          <a:xfrm>
            <a:off x="640080" y="2990088"/>
            <a:ext cx="10881360" cy="1417320"/>
          </a:xfrm>
          <a:prstGeom prst="roundRect">
            <a:avLst>
              <a:gd name="adj" fmla="val 5161"/>
            </a:avLst>
          </a:prstGeom>
          <a:solidFill>
            <a:srgbClr val="FFF8E1"/>
          </a:solidFill>
          <a:ln w="12700">
            <a:solidFill>
              <a:srgbClr val="FFF8E1"/>
            </a:solidFill>
            <a:prstDash val="solid"/>
          </a:ln>
        </p:spPr>
      </p:sp>
      <p:sp>
        <p:nvSpPr>
          <p:cNvPr id="8" name="Text 6"/>
          <p:cNvSpPr/>
          <p:nvPr/>
        </p:nvSpPr>
        <p:spPr>
          <a:xfrm>
            <a:off x="960120" y="3172968"/>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Bond strengths are ordinal</a:t>
            </a:r>
            <a:endParaRPr lang="en-US" sz="1800" dirty="0"/>
          </a:p>
        </p:txBody>
      </p:sp>
      <p:sp>
        <p:nvSpPr>
          <p:cNvPr id="9" name="Text 7"/>
          <p:cNvSpPr/>
          <p:nvPr/>
        </p:nvSpPr>
        <p:spPr>
          <a:xfrm>
            <a:off x="960120" y="3630168"/>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Six bonds carry values from 1.00 to 0.25 encoding only a rank order. The model then reports a specific “closest to rupture” bond and a numeric load. That precision is not supported by the input — only the ordering is.</a:t>
            </a:r>
            <a:endParaRPr lang="en-US" sz="1400" dirty="0"/>
          </a:p>
        </p:txBody>
      </p:sp>
      <p:sp>
        <p:nvSpPr>
          <p:cNvPr id="10" name="Shape 8"/>
          <p:cNvSpPr/>
          <p:nvPr/>
        </p:nvSpPr>
        <p:spPr>
          <a:xfrm>
            <a:off x="640080" y="4562856"/>
            <a:ext cx="10881360" cy="1417320"/>
          </a:xfrm>
          <a:prstGeom prst="roundRect">
            <a:avLst>
              <a:gd name="adj" fmla="val 5161"/>
            </a:avLst>
          </a:prstGeom>
          <a:solidFill>
            <a:srgbClr val="FFF8E1"/>
          </a:solidFill>
          <a:ln w="12700">
            <a:solidFill>
              <a:srgbClr val="FFF8E1"/>
            </a:solidFill>
            <a:prstDash val="solid"/>
          </a:ln>
        </p:spPr>
      </p:sp>
      <p:sp>
        <p:nvSpPr>
          <p:cNvPr id="11" name="Text 9"/>
          <p:cNvSpPr/>
          <p:nvPr/>
        </p:nvSpPr>
        <p:spPr>
          <a:xfrm>
            <a:off x="960120" y="4745736"/>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No absolute energy scale</a:t>
            </a:r>
            <a:endParaRPr lang="en-US" sz="1800" dirty="0"/>
          </a:p>
        </p:txBody>
      </p:sp>
      <p:sp>
        <p:nvSpPr>
          <p:cNvPr id="12" name="Text 10"/>
          <p:cNvSpPr/>
          <p:nvPr/>
        </p:nvSpPr>
        <p:spPr>
          <a:xfrm>
            <a:off x="960120" y="5202936"/>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Without bond energies in kT, nothing converts to a predicted fluctuation amplitude comparable with data. This is exactly what made the soft-mode analysis uninterpretable and led to it being abandoned.</a:t>
            </a:r>
            <a:endParaRPr lang="en-US" sz="1400" dirty="0"/>
          </a:p>
        </p:txBody>
      </p:sp>
      <p:sp>
        <p:nvSpPr>
          <p:cNvPr id="13" name="Text 11"/>
          <p:cNvSpPr/>
          <p:nvPr/>
        </p:nvSpPr>
        <p:spPr>
          <a:xfrm>
            <a:off x="640080" y="626364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A band_sensitivity() helper exists and should be run on any conclusion before it is reported.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SECOND TIER</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Fixable: the solver is not dependable at the edges</a:t>
            </a:r>
            <a:endParaRPr lang="en-US" sz="3400" dirty="0"/>
          </a:p>
        </p:txBody>
      </p:sp>
      <p:sp>
        <p:nvSpPr>
          <p:cNvPr id="4" name="Text 2"/>
          <p:cNvSpPr/>
          <p:nvPr/>
        </p:nvSpPr>
        <p:spPr>
          <a:xfrm>
            <a:off x="640080" y="1325880"/>
            <a:ext cx="10881360" cy="365760"/>
          </a:xfrm>
          <a:prstGeom prst="rect">
            <a:avLst/>
          </a:prstGeom>
          <a:noFill/>
          <a:ln/>
        </p:spPr>
        <p:txBody>
          <a:bodyPr wrap="square" rtlCol="0" anchor="ctr"/>
          <a:lstStyle/>
          <a:p>
            <a:pPr indent="0" marL="0">
              <a:buNone/>
            </a:pPr>
            <a:r>
              <a:rPr lang="en-US" sz="1500" dirty="0">
                <a:solidFill>
                  <a:srgbClr val="6B7280"/>
                </a:solidFill>
                <a:latin typeface="Calibri" pitchFamily="34" charset="0"/>
                <a:ea typeface="Calibri" pitchFamily="34" charset="-122"/>
                <a:cs typeface="Calibri" pitchFamily="34" charset="-120"/>
              </a:rPr>
              <a:t>Solve cost is driven by convergence difficulty, not problem size — so it is unpredictable:</a:t>
            </a:r>
            <a:endParaRPr lang="en-US" sz="1500" dirty="0"/>
          </a:p>
        </p:txBody>
      </p:sp>
      <p:graphicFrame>
        <p:nvGraphicFramePr>
          <p:cNvPr id="5" name="Chart 0" descr=""/>
          <p:cNvGraphicFramePr/>
          <p:nvPr/>
        </p:nvGraphicFramePr>
        <p:xfrm>
          <a:off x="640080" y="1828800"/>
          <a:ext cx="512064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035040" y="182880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Some inputs never converge</a:t>
            </a:r>
            <a:endParaRPr lang="en-US" sz="1500" dirty="0"/>
          </a:p>
        </p:txBody>
      </p:sp>
      <p:sp>
        <p:nvSpPr>
          <p:cNvPr id="7" name="Text 4"/>
          <p:cNvSpPr/>
          <p:nvPr/>
        </p:nvSpPr>
        <p:spPr>
          <a:xfrm>
            <a:off x="6035040" y="215798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n_pf_A = 20 fails outright. Non-convergence is now surfaced, but the geometry is still drawn and every metric still reported.</a:t>
            </a:r>
            <a:endParaRPr lang="en-US" sz="1300" dirty="0"/>
          </a:p>
        </p:txBody>
      </p:sp>
      <p:sp>
        <p:nvSpPr>
          <p:cNvPr id="8" name="Text 5"/>
          <p:cNvSpPr/>
          <p:nvPr/>
        </p:nvSpPr>
        <p:spPr>
          <a:xfrm>
            <a:off x="6035040" y="288036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Accuracy was traded for responsiveness</a:t>
            </a:r>
            <a:endParaRPr lang="en-US" sz="1500" dirty="0"/>
          </a:p>
        </p:txBody>
      </p:sp>
      <p:sp>
        <p:nvSpPr>
          <p:cNvPr id="9" name="Text 6"/>
          <p:cNvSpPr/>
          <p:nvPr/>
        </p:nvSpPr>
        <p:spPr>
          <a:xfrm>
            <a:off x="6035040" y="320954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Solver effort is capped in the interface so it cannot stall. Extreme configurations therefore return lower-confidence answers by design.</a:t>
            </a:r>
            <a:endParaRPr lang="en-US" sz="1300" dirty="0"/>
          </a:p>
        </p:txBody>
      </p:sp>
      <p:sp>
        <p:nvSpPr>
          <p:cNvPr id="10" name="Text 7"/>
          <p:cNvSpPr/>
          <p:nvPr/>
        </p:nvSpPr>
        <p:spPr>
          <a:xfrm>
            <a:off x="6035040" y="393192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An earlier expectation was simply wrong</a:t>
            </a:r>
            <a:endParaRPr lang="en-US" sz="1500" dirty="0"/>
          </a:p>
        </p:txBody>
      </p:sp>
      <p:sp>
        <p:nvSpPr>
          <p:cNvPr id="11" name="Text 8"/>
          <p:cNvSpPr/>
          <p:nvPr/>
        </p:nvSpPr>
        <p:spPr>
          <a:xfrm>
            <a:off x="6035040" y="426110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Clashes were predicted at low protofilament counts. Tested 9 through 18: zero clashes at every value. The claim came from a superseded architecture and had not been rechecked.</a:t>
            </a:r>
            <a:endParaRPr lang="en-US" sz="1300" dirty="0"/>
          </a:p>
        </p:txBody>
      </p:sp>
      <p:sp>
        <p:nvSpPr>
          <p:cNvPr id="12" name="Text 9"/>
          <p:cNvSpPr/>
          <p:nvPr/>
        </p:nvSpPr>
        <p:spPr>
          <a:xfrm>
            <a:off x="640080" y="5120640"/>
            <a:ext cx="10881360" cy="365760"/>
          </a:xfrm>
          <a:prstGeom prst="rect">
            <a:avLst/>
          </a:prstGeom>
          <a:noFill/>
          <a:ln/>
        </p:spPr>
        <p:txBody>
          <a:bodyPr wrap="square" rtlCol="0" anchor="ctr"/>
          <a:lstStyle/>
          <a:p>
            <a:pPr indent="0" marL="0">
              <a:buNone/>
            </a:pPr>
            <a:r>
              <a:rPr lang="en-US" sz="1400" i="1" dirty="0">
                <a:solidFill>
                  <a:srgbClr val="C62828"/>
                </a:solidFill>
                <a:latin typeface="Calibri" pitchFamily="34" charset="0"/>
                <a:ea typeface="Calibri" pitchFamily="34" charset="-122"/>
                <a:cs typeface="Calibri" pitchFamily="34" charset="-120"/>
              </a:rPr>
              <a:t>The last point is the important one: a stated result survived an architecture change without being re-tested.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BEFORE PUBLICATION</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What would have to change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3383280"/>
                <a:gridCol w="6035040"/>
                <a:gridCol w="1463040"/>
              </a:tblGrid>
              <a:tr h="6583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Requirement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Why it is blocking</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Effort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Validate against data NOT used in calibration</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Removes the circularity. Predict a mutant or a species the model has never seen, then measure it.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High</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Calibrate joint bands on sub-tomogram variance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Converts invented thresholds into measured ones; makes grades meaningful in absolute terms.</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Medium</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Propagate input uncertainty to outputs</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Every number is currently a point estimate from one noisy drawing. Error bars are needed.</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Medium</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Put bond strengths on an absolute scale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Required before any force, rupture or fluctuation claim can be quantitative.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High</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State the scope boundary in the output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So a 3D question cannot silently receive a 2D answer.</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Low</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bl>
          </a:graphicData>
        </a:graphic>
      </p:graphicFrame>
      <p:sp>
        <p:nvSpPr>
          <p:cNvPr id="5" name="Text 2"/>
          <p:cNvSpPr/>
          <p:nvPr/>
        </p:nvSpPr>
        <p:spPr>
          <a:xfrm>
            <a:off x="640080" y="585216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None of these invalidate the tool as a hypothesis generator. They are what stand between it and a quantitative claim.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035"/>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can and cannot conclude today</a:t>
            </a:r>
            <a:endParaRPr lang="en-US" sz="3200" dirty="0"/>
          </a:p>
        </p:txBody>
      </p:sp>
      <p:sp>
        <p:nvSpPr>
          <p:cNvPr id="3" name="Shape 1"/>
          <p:cNvSpPr/>
          <p:nvPr/>
        </p:nvSpPr>
        <p:spPr>
          <a:xfrm>
            <a:off x="822960" y="1600200"/>
            <a:ext cx="5120640" cy="4023360"/>
          </a:xfrm>
          <a:prstGeom prst="roundRect">
            <a:avLst>
              <a:gd name="adj" fmla="val 1818"/>
            </a:avLst>
          </a:prstGeom>
          <a:solidFill>
            <a:srgbClr val="16351F"/>
          </a:solidFill>
          <a:ln w="12700">
            <a:solidFill>
              <a:srgbClr val="2E7D32"/>
            </a:solidFill>
            <a:prstDash val="solid"/>
          </a:ln>
        </p:spPr>
      </p:sp>
      <p:sp>
        <p:nvSpPr>
          <p:cNvPr id="4" name="Text 2"/>
          <p:cNvSpPr/>
          <p:nvPr/>
        </p:nvSpPr>
        <p:spPr>
          <a:xfrm>
            <a:off x="1097280" y="1783080"/>
            <a:ext cx="4572000" cy="365760"/>
          </a:xfrm>
          <a:prstGeom prst="rect">
            <a:avLst/>
          </a:prstGeom>
          <a:noFill/>
          <a:ln/>
        </p:spPr>
        <p:txBody>
          <a:bodyPr wrap="square" rtlCol="0" anchor="ctr"/>
          <a:lstStyle/>
          <a:p>
            <a:pPr indent="0" marL="0">
              <a:buNone/>
            </a:pPr>
            <a:r>
              <a:rPr lang="en-US" sz="1700" b="1" dirty="0">
                <a:solidFill>
                  <a:srgbClr val="7BC67B"/>
                </a:solidFill>
                <a:latin typeface="Calibri" pitchFamily="34" charset="0"/>
                <a:ea typeface="Calibri" pitchFamily="34" charset="-122"/>
                <a:cs typeface="Calibri" pitchFamily="34" charset="-120"/>
              </a:rPr>
              <a:t>SAFE</a:t>
            </a:r>
            <a:endParaRPr lang="en-US" sz="1700" dirty="0"/>
          </a:p>
        </p:txBody>
      </p:sp>
      <p:sp>
        <p:nvSpPr>
          <p:cNvPr id="5" name="Text 3"/>
          <p:cNvSpPr/>
          <p:nvPr/>
        </p:nvSpPr>
        <p:spPr>
          <a:xfrm>
            <a:off x="1097280" y="2240280"/>
            <a:ext cx="4572000" cy="3200400"/>
          </a:xfrm>
          <a:prstGeom prst="rect">
            <a:avLst/>
          </a:prstGeom>
          <a:noFill/>
          <a:ln/>
        </p:spPr>
        <p:txBody>
          <a:bodyPr wrap="square" rtlCol="0" anchor="ctr"/>
          <a:lstStyle/>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Relative comparisons — mutant against wild type, one perturbation against another</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The ordering of which connection is most loaded</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Whether a proposed architecture is geometrically possible at all</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Diameter predictions, the one output with independent support</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Generating hypotheses worth testing at the bench</a:t>
            </a:r>
            <a:endParaRPr lang="en-US" sz="1350" dirty="0"/>
          </a:p>
        </p:txBody>
      </p:sp>
      <p:sp>
        <p:nvSpPr>
          <p:cNvPr id="6" name="Shape 4"/>
          <p:cNvSpPr/>
          <p:nvPr/>
        </p:nvSpPr>
        <p:spPr>
          <a:xfrm>
            <a:off x="6263640" y="1600200"/>
            <a:ext cx="5074920" cy="4023360"/>
          </a:xfrm>
          <a:prstGeom prst="roundRect">
            <a:avLst>
              <a:gd name="adj" fmla="val 1818"/>
            </a:avLst>
          </a:prstGeom>
          <a:solidFill>
            <a:srgbClr val="3A1620"/>
          </a:solidFill>
          <a:ln w="12700">
            <a:solidFill>
              <a:srgbClr val="C62828"/>
            </a:solidFill>
            <a:prstDash val="solid"/>
          </a:ln>
        </p:spPr>
      </p:sp>
      <p:sp>
        <p:nvSpPr>
          <p:cNvPr id="7" name="Text 5"/>
          <p:cNvSpPr/>
          <p:nvPr/>
        </p:nvSpPr>
        <p:spPr>
          <a:xfrm>
            <a:off x="6537960" y="1783080"/>
            <a:ext cx="4572000" cy="365760"/>
          </a:xfrm>
          <a:prstGeom prst="rect">
            <a:avLst/>
          </a:prstGeom>
          <a:noFill/>
          <a:ln/>
        </p:spPr>
        <p:txBody>
          <a:bodyPr wrap="square" rtlCol="0" anchor="ctr"/>
          <a:lstStyle/>
          <a:p>
            <a:pPr indent="0" marL="0">
              <a:buNone/>
            </a:pPr>
            <a:r>
              <a:rPr lang="en-US" sz="1700" b="1" dirty="0">
                <a:solidFill>
                  <a:srgbClr val="F09A9A"/>
                </a:solidFill>
                <a:latin typeface="Calibri" pitchFamily="34" charset="0"/>
                <a:ea typeface="Calibri" pitchFamily="34" charset="-122"/>
                <a:cs typeface="Calibri" pitchFamily="34" charset="-120"/>
              </a:rPr>
              <a:t>NOT SAFE</a:t>
            </a:r>
            <a:endParaRPr lang="en-US" sz="1700" dirty="0"/>
          </a:p>
        </p:txBody>
      </p:sp>
      <p:sp>
        <p:nvSpPr>
          <p:cNvPr id="8" name="Text 6"/>
          <p:cNvSpPr/>
          <p:nvPr/>
        </p:nvSpPr>
        <p:spPr>
          <a:xfrm>
            <a:off x="6537960" y="2240280"/>
            <a:ext cx="4572000" cy="3200400"/>
          </a:xfrm>
          <a:prstGeom prst="rect">
            <a:avLst/>
          </a:prstGeom>
          <a:noFill/>
          <a:ln/>
        </p:spPr>
        <p:txBody>
          <a:bodyPr wrap="square" rtlCol="0" anchor="ctr"/>
          <a:lstStyle/>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“Wild type is optimal” as an independent finding — it is largely built in</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Absolute strain values, forces, or rupture thresholds</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Any claim about twist, axial gradients or assembly over time</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Precision beyond about 1 nm and a few degrees</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Negative results on questions the 2D geometry cannot represent</a:t>
            </a:r>
            <a:endParaRPr lang="en-US" sz="1350" dirty="0"/>
          </a:p>
        </p:txBody>
      </p:sp>
      <p:sp>
        <p:nvSpPr>
          <p:cNvPr id="9" name="Text 7"/>
          <p:cNvSpPr/>
          <p:nvPr/>
        </p:nvSpPr>
        <p:spPr>
          <a:xfrm>
            <a:off x="822960" y="5897880"/>
            <a:ext cx="10515600" cy="640080"/>
          </a:xfrm>
          <a:prstGeom prst="rect">
            <a:avLst/>
          </a:prstGeom>
          <a:noFill/>
          <a:ln/>
        </p:spPr>
        <p:txBody>
          <a:bodyPr wrap="square" rtlCol="0" anchor="ctr"/>
          <a:lstStyle/>
          <a:p>
            <a:pPr indent="0" marL="0">
              <a:buNone/>
            </a:pPr>
            <a:r>
              <a:rPr lang="en-US" sz="1500" i="1" dirty="0">
                <a:solidFill>
                  <a:srgbClr val="2FA8A8"/>
                </a:solidFill>
                <a:latin typeface="Calibri" pitchFamily="34" charset="0"/>
                <a:ea typeface="Calibri" pitchFamily="34" charset="-122"/>
                <a:cs typeface="Calibri" pitchFamily="34" charset="-120"/>
              </a:rPr>
              <a:t>Bottom line: a well-built hypothesis generator that has not yet been independently validated. Use it to decide what to measure, not to conclude what is true.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2026-07-30T14:09:42Z</dcterms:created>
  <dcterms:modified xsi:type="dcterms:W3CDTF">2026-07-30T14:09:42Z</dcterms:modified>
</cp:coreProperties>
</file>